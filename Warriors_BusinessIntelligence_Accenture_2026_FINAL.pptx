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2.svg" ContentType="image/svg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4" r:id="rId2"/>
    <p:sldMasterId id="2147483699" r:id="rId3"/>
    <p:sldMasterId id="2147483713" r:id="rId4"/>
  </p:sldMasterIdLst>
  <p:notesMasterIdLst>
    <p:notesMasterId r:id="rId11"/>
  </p:notesMasterIdLst>
  <p:sldIdLst>
    <p:sldId id="820" r:id="rId5"/>
    <p:sldId id="2857" r:id="rId6"/>
    <p:sldId id="1906872563" r:id="rId7"/>
    <p:sldId id="1906872569" r:id="rId8"/>
    <p:sldId id="1906872572" r:id="rId9"/>
    <p:sldId id="1906872573" r:id="rId18"/>
    <p:sldId id="1906872574" r:id="rId19"/>
    <p:sldId id="1906872575" r:id="rId20"/>
    <p:sldId id="19068725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4" d="100"/>
          <a:sy n="84" d="100"/>
        </p:scale>
        <p:origin x="6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11.emf"/><Relationship Id="rId4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Relationship Id="rId3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sv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9.xml"/><Relationship Id="rId4" Type="http://schemas.openxmlformats.org/officeDocument/2006/relationships/slideLayout" Target="../slideLayouts/slideLayout30.xml"/><Relationship Id="rId5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2.xml"/><Relationship Id="rId7" Type="http://schemas.openxmlformats.org/officeDocument/2006/relationships/slideLayout" Target="../slideLayouts/slideLayout33.xml"/><Relationship Id="rId8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41.xml"/><Relationship Id="rId16" Type="http://schemas.openxmlformats.org/officeDocument/2006/relationships/slideLayout" Target="../slideLayouts/slideLayout42.xml"/><Relationship Id="rId17" Type="http://schemas.openxmlformats.org/officeDocument/2006/relationships/slideLayout" Target="../slideLayouts/slideLayout43.xml"/><Relationship Id="rId18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45.xml"/><Relationship Id="rId20" Type="http://schemas.openxmlformats.org/officeDocument/2006/relationships/slideLayout" Target="../slideLayouts/slideLayout46.xml"/><Relationship Id="rId21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8.xml"/><Relationship Id="rId23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50.xml"/><Relationship Id="rId25" Type="http://schemas.openxmlformats.org/officeDocument/2006/relationships/slideLayout" Target="../slideLayouts/slideLayout51.xml"/><Relationship Id="rId26" Type="http://schemas.openxmlformats.org/officeDocument/2006/relationships/slideLayout" Target="../slideLayouts/slideLayout52.xml"/><Relationship Id="rId27" Type="http://schemas.openxmlformats.org/officeDocument/2006/relationships/slideLayout" Target="../slideLayouts/slideLayout53.xml"/><Relationship Id="rId28" Type="http://schemas.openxmlformats.org/officeDocument/2006/relationships/slideLayout" Target="../slideLayouts/slideLayout54.xml"/><Relationship Id="rId29" Type="http://schemas.openxmlformats.org/officeDocument/2006/relationships/slideLayout" Target="../slideLayouts/slideLayout55.xml"/><Relationship Id="rId30" Type="http://schemas.openxmlformats.org/officeDocument/2006/relationships/slideLayout" Target="../slideLayouts/slideLayout56.xml"/><Relationship Id="rId31" Type="http://schemas.openxmlformats.org/officeDocument/2006/relationships/slideLayout" Target="../slideLayouts/slideLayout57.xml"/><Relationship Id="rId32" Type="http://schemas.openxmlformats.org/officeDocument/2006/relationships/slideLayout" Target="../slideLayouts/slideLayout58.xml"/><Relationship Id="rId33" Type="http://schemas.openxmlformats.org/officeDocument/2006/relationships/slideLayout" Target="../slideLayouts/slideLayout59.xml"/><Relationship Id="rId34" Type="http://schemas.openxmlformats.org/officeDocument/2006/relationships/slideLayout" Target="../slideLayouts/slideLayout60.xml"/><Relationship Id="rId35" Type="http://schemas.openxmlformats.org/officeDocument/2006/relationships/slideLayout" Target="../slideLayouts/slideLayout61.xml"/><Relationship Id="rId36" Type="http://schemas.openxmlformats.org/officeDocument/2006/relationships/slideLayout" Target="../slideLayouts/slideLayout62.xml"/><Relationship Id="rId37" Type="http://schemas.openxmlformats.org/officeDocument/2006/relationships/slideLayout" Target="../slideLayouts/slideLayout63.xml"/><Relationship Id="rId38" Type="http://schemas.openxmlformats.org/officeDocument/2006/relationships/slideLayout" Target="../slideLayouts/slideLayout64.xml"/><Relationship Id="rId39" Type="http://schemas.openxmlformats.org/officeDocument/2006/relationships/slideLayout" Target="../slideLayouts/slideLayout65.xml"/><Relationship Id="rId40" Type="http://schemas.openxmlformats.org/officeDocument/2006/relationships/slideLayout" Target="../slideLayouts/slideLayout66.xml"/><Relationship Id="rId41" Type="http://schemas.openxmlformats.org/officeDocument/2006/relationships/slideLayout" Target="../slideLayouts/slideLayout67.xml"/><Relationship Id="rId42" Type="http://schemas.openxmlformats.org/officeDocument/2006/relationships/slideLayout" Target="../slideLayouts/slideLayout68.xml"/><Relationship Id="rId43" Type="http://schemas.openxmlformats.org/officeDocument/2006/relationships/slideLayout" Target="../slideLayouts/slideLayout69.xml"/><Relationship Id="rId44" Type="http://schemas.openxmlformats.org/officeDocument/2006/relationships/slideLayout" Target="../slideLayouts/slideLayout70.xml"/><Relationship Id="rId45" Type="http://schemas.openxmlformats.org/officeDocument/2006/relationships/slideLayout" Target="../slideLayouts/slideLayout71.xml"/><Relationship Id="rId46" Type="http://schemas.openxmlformats.org/officeDocument/2006/relationships/slideLayout" Target="../slideLayouts/slideLayout72.xml"/><Relationship Id="rId47" Type="http://schemas.openxmlformats.org/officeDocument/2006/relationships/slideLayout" Target="../slideLayouts/slideLayout73.xml"/><Relationship Id="rId48" Type="http://schemas.openxmlformats.org/officeDocument/2006/relationships/slideLayout" Target="../slideLayouts/slideLayout74.xml"/><Relationship Id="rId49" Type="http://schemas.openxmlformats.org/officeDocument/2006/relationships/slideLayout" Target="../slideLayouts/slideLayout75.xml"/><Relationship Id="rId50" Type="http://schemas.openxmlformats.org/officeDocument/2006/relationships/slideLayout" Target="../slideLayouts/slideLayout76.xml"/><Relationship Id="rId51" Type="http://schemas.openxmlformats.org/officeDocument/2006/relationships/slideLayout" Target="../slideLayouts/slideLayout77.xml"/><Relationship Id="rId52" Type="http://schemas.openxmlformats.org/officeDocument/2006/relationships/slideLayout" Target="../slideLayouts/slideLayout78.xml"/><Relationship Id="rId53" Type="http://schemas.openxmlformats.org/officeDocument/2006/relationships/slideLayout" Target="../slideLayouts/slideLayout79.xml"/><Relationship Id="rId54" Type="http://schemas.openxmlformats.org/officeDocument/2006/relationships/slideLayout" Target="../slideLayouts/slideLayout80.xml"/><Relationship Id="rId55" Type="http://schemas.openxmlformats.org/officeDocument/2006/relationships/slideLayout" Target="../slideLayouts/slideLayout81.xml"/><Relationship Id="rId56" Type="http://schemas.openxmlformats.org/officeDocument/2006/relationships/slideLayout" Target="../slideLayouts/slideLayout82.xml"/><Relationship Id="rId57" Type="http://schemas.openxmlformats.org/officeDocument/2006/relationships/slideLayout" Target="../slideLayouts/slideLayout83.xml"/><Relationship Id="rId58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jpe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anose="020B0503030202060203" pitchFamily="34" charset="77"/>
                <a:ea typeface="+mn-ea"/>
                <a:cs typeface="+mn-cs"/>
              </a:rPr>
              <a:t>From KPI anomaly to action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743200" y="475488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A600FF"/>
                </a:solidFill>
                <a:latin typeface="Aptos"/>
              </a:rPr>
              <a:t>BusinessIntelligence.ai  |  KPI Intelligence-to-Action Engine</a:t>
            </a:r>
          </a:p>
        </p:txBody>
      </p:sp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385349" y="2505161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 sz="1500" b="1">
                <a:solidFill>
                  <a:srgbClr val="1C1C20"/>
                </a:solidFill>
                <a:latin typeface="Aptos Display"/>
              </a:rPr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636" y="2405772"/>
            <a:ext cx="1434218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2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A600FF"/>
                </a:solidFill>
                <a:effectLst/>
                <a:uLnTx/>
                <a:uFillTx/>
                <a:latin typeface="Aptos Display"/>
                <a:ea typeface="+mn-ea"/>
                <a:cs typeface="+mn-cs"/>
              </a:rPr>
              <a:t>Harsh Singh Baghel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ptos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2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 sz="1600">
                <a:latin typeface="Aptos"/>
              </a:rPr>
              <a:t>Rathod Rudra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srgbClr val="A100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Placeholder 75">
            <a:extLst>
              <a:ext uri="{FF2B5EF4-FFF2-40B4-BE49-F238E27FC236}">
                <a16:creationId xmlns:a16="http://schemas.microsoft.com/office/drawing/2014/main" id="{5E355391-27FE-4824-9548-B5688C3FCC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21998" y="2405772"/>
            <a:ext cx="1510522" cy="1471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9165642" y="2199446"/>
            <a:ext cx="2283067" cy="710629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GB" sz="2800" dirty="0" b="1">
                <a:solidFill>
                  <a:srgbClr val="A600FF"/>
                </a:solidFill>
                <a:latin typeface="Aptos Display"/>
              </a:rPr>
              <a:t>Dhruv Maheshwari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9151259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631207"/>
              </p:ext>
            </p:extLst>
          </p:nvPr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  Warriors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College: IIT Patna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Stream: Engineering Physics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Year of graduation: 2028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College: IIT Patna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Stream: Engineering Physics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Year of graduation: 2029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9122721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College: IIT Patna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Stream: Engineering Physics</a:t>
            </a:r>
          </a:p>
          <a:p>
            <a:pPr lvl="0">
              <a:defRPr/>
            </a:pPr>
            <a:r>
              <a:rPr lang="en-US" sz="1200" dirty="0">
                <a:solidFill>
                  <a:srgbClr val="000000"/>
                </a:solidFill>
                <a:latin typeface="Aptos"/>
              </a:rPr>
              <a:t>Year of graduation: 2028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636" y="4361533"/>
            <a:ext cx="1434218" cy="1471323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4160520" y="6263640"/>
            <a:ext cx="3840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A600FF"/>
                </a:solidFill>
                <a:latin typeface="Aptos"/>
              </a:rPr>
              <a:t>TEAM WARRIORS  •  IIT PATNA</a:t>
            </a:r>
          </a:p>
        </p:txBody>
      </p:sp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61458" y="386331"/>
            <a:ext cx="11282796" cy="470919"/>
          </a:xfrm>
          <a:solidFill>
            <a:srgbClr val="A100FF"/>
          </a:solidFill>
        </p:spPr>
        <p:txBody>
          <a:bodyPr>
            <a:normAutofit/>
          </a:bodyPr>
          <a:lstStyle/>
          <a:p>
            <a:endParaRPr lang="en-IN" sz="2000" dirty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A9BBD3-4F02-1DCE-6B74-90C4E0B91E57}"/>
              </a:ext>
            </a:extLst>
          </p:cNvPr>
          <p:cNvSpPr txBox="1"/>
          <p:nvPr/>
        </p:nvSpPr>
        <p:spPr>
          <a:xfrm>
            <a:off x="361458" y="1102132"/>
            <a:ext cx="1128279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1C20"/>
                </a:solidFill>
                <a:latin typeface="Aptos Display"/>
              </a:rPr>
              <a:t>The problem: dashboards explain WHAT, not WHY or WHAT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C1C20"/>
                </a:solidFill>
                <a:latin typeface="Aptos"/>
              </a:rPr>
              <a:t>A red KPI is only a symptom. The real business question is: what caused the deviation, how much did each factor contribute, and what should we do now?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3429000" cy="16916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64008" cy="16916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2037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Internal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651760"/>
            <a:ext cx="3063240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ERP sales &amp; order data
Inventory / warehouse backlog
Jira defects and support tickets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057400"/>
            <a:ext cx="3429000" cy="16916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2057400"/>
            <a:ext cx="64008" cy="16916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22037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External signals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651760"/>
            <a:ext cx="3063240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Supply-chain disruption
Port strikes / tariffs
Competitor pricing and market shocks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2057400"/>
            <a:ext cx="3429000" cy="16916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2057400"/>
            <a:ext cx="64008" cy="16916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22037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Human bottleneck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651760"/>
            <a:ext cx="3063240" cy="978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Analysts manually join SQL, tickets, operations and news. Investigation can take 4–7 days.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THREE ENTERPRISE RISKS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572000"/>
            <a:ext cx="3246120" cy="12344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572000"/>
            <a:ext cx="64008" cy="12344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718304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Critical latency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166360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By the time root cause is known, revenue loss may already be permanent.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69080" y="4572000"/>
            <a:ext cx="3246120" cy="12344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9080" y="4572000"/>
            <a:ext cx="64008" cy="12344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70248" y="4718304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Alert fatigue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0248" y="5166360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Normal weekend or seasonal movement gets investigated as an incident.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4572000"/>
            <a:ext cx="3246120" cy="12344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60" y="4572000"/>
            <a:ext cx="64008" cy="12344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53528" y="4718304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Decision guesswork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53528" y="5166360"/>
            <a:ext cx="288036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Leadership lacks quantified causal evidence and recovery scenarios.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40961" y="342685"/>
            <a:ext cx="11282796" cy="423125"/>
          </a:xfrm>
          <a:solidFill>
            <a:srgbClr val="A100FF"/>
          </a:solidFill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8B3A8E-8CD7-BACF-E784-DACC04D7DC42}"/>
              </a:ext>
            </a:extLst>
          </p:cNvPr>
          <p:cNvSpPr txBox="1"/>
          <p:nvPr/>
        </p:nvSpPr>
        <p:spPr>
          <a:xfrm>
            <a:off x="340961" y="1078992"/>
            <a:ext cx="11282796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1C20"/>
                </a:solidFill>
                <a:latin typeface="Aptos Display"/>
              </a:rPr>
              <a:t>Foundation: governed data + deterministic math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50" b="0">
                <a:solidFill>
                  <a:srgbClr val="5C5C62"/>
                </a:solidFill>
                <a:latin typeface="Aptos"/>
              </a:rPr>
              <a:t>Before any LLM reasoning, the platform standardizes data, detects true anomalies and calculates exact KPI attribution.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64008" cy="19202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4 canonical KPIs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Gross Revenue
Order Volume
Conversion Rate
Average Order Value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1691640"/>
            <a:ext cx="64008" cy="19202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Heterogeneous 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Daily ERP transactions
Hourly web sessions
Weekly Jira + support logs
Governed semantic contract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691640"/>
            <a:ext cx="64008" cy="19202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7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SPC anomaly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7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28-day rolling baseline
Day-of-week normalization
Trigger at &gt;2.5σ
Filters ordinary fluctuations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1691640"/>
            <a:ext cx="2560320" cy="192024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0" y="1691640"/>
            <a:ext cx="64008" cy="192024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1837944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Exact causal tree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2286000"/>
            <a:ext cx="219456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Closed-form Shapley / LMDI-style decomposition
Zero residual by construction
No LLM math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EXACT KPI DECOMPOSITION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480560"/>
            <a:ext cx="104241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A600FF"/>
                </a:solidFill>
                <a:latin typeface="Aptos Display"/>
              </a:rPr>
              <a:t>Revenue = Sessions × Conversion Rate × AOV
ΔRevenue = ΔSessions + ΔCVR + ΔAOV + Residual, with Residual =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2578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50" b="0">
                <a:solidFill>
                  <a:srgbClr val="5C5C62"/>
                </a:solidFill>
                <a:latin typeface="Aptos"/>
              </a:rPr>
              <a:t>This creates an auditable boundary: deterministic mathematics owns measurement and attribution; AI owns contextual investigation, synthesis and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8CF69-3B38-8F7E-8355-6FB19B15D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4F8975F-047D-2696-E8BE-A3A8DCE0C7AC}"/>
              </a:ext>
            </a:extLst>
          </p:cNvPr>
          <p:cNvSpPr txBox="1"/>
          <p:nvPr/>
        </p:nvSpPr>
        <p:spPr>
          <a:xfrm>
            <a:off x="340961" y="1078992"/>
            <a:ext cx="1128279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3CD560F5-3170-FA9D-6A82-64F26ABB6399}"/>
              </a:ext>
            </a:extLst>
          </p:cNvPr>
          <p:cNvSpPr txBox="1">
            <a:spLocks/>
          </p:cNvSpPr>
          <p:nvPr/>
        </p:nvSpPr>
        <p:spPr>
          <a:xfrm>
            <a:off x="340961" y="342685"/>
            <a:ext cx="11282796" cy="423125"/>
          </a:xfrm>
          <a:prstGeom prst="rect">
            <a:avLst/>
          </a:prstGeom>
          <a:solidFill>
            <a:srgbClr val="A100FF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IN" sz="2000" b="1" dirty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1C20"/>
                </a:solidFill>
                <a:latin typeface="Aptos Display"/>
              </a:rPr>
              <a:t>The 3-model architecture: investigate from both sides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78992"/>
            <a:ext cx="10972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C1C20"/>
                </a:solidFill>
                <a:latin typeface="Aptos Display"/>
              </a:rPr>
              <a:t>Two specialist models investigate independently; a third model reconciles evidence and turns it into 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645920"/>
            <a:ext cx="3520440" cy="27889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4008" cy="27889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179222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MODEL 1  |  INTERNAL DIAGNOSTIC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240280"/>
            <a:ext cx="3154680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Purpose: isolate operational bottlenecks.
Inputs:
• ERP/order backlog
• Warehouse / WMS signals
• Jira defects
• Customer support
Output: ranked internal hypotheses with supporting evidence.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645920"/>
            <a:ext cx="3520440" cy="27889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645920"/>
            <a:ext cx="64008" cy="27889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7" y="179222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MODEL 2  |  MACRO SENTINEL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240280"/>
            <a:ext cx="3154680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Purpose: detect external shocks invisible to internal systems.
Inputs:
• Live market / news feeds
• Supply-chain events
• Competitor moves
• Tariffs / disruption signals
Output: quantified external-impact hypotheses.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45920"/>
            <a:ext cx="3520440" cy="27889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645920"/>
            <a:ext cx="64008" cy="27889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0728" y="179222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MODEL 3  |  DECISION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2240280"/>
            <a:ext cx="3154680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Purpose: synthesize and prescribe.
Combines Model 1 + 2 with exact causal attribution, then produces:
• confidence / abstention state
• recommended actions
• 30/60/90-day trajectory ROI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00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EXAMPLE: COMPOUND KPI DROP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C1C20"/>
                </a:solidFill>
                <a:latin typeface="Aptos"/>
              </a:rPr>
              <a:t>70%  Port strike
External shock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80" y="525780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C1C20"/>
                </a:solidFill>
                <a:latin typeface="Aptos"/>
              </a:rPr>
              <a:t>+  30%  WMS backlog
Internal bottleneck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5257800"/>
            <a:ext cx="37490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C1C20"/>
                </a:solidFill>
                <a:latin typeface="Aptos"/>
              </a:rPr>
              <a:t>100% explained
Zero-residual attribution</a:t>
            </a:r>
          </a:p>
        </p:txBody>
      </p:sp>
    </p:spTree>
    <p:extLst>
      <p:ext uri="{BB962C8B-B14F-4D97-AF65-F5344CB8AC3E}">
        <p14:creationId xmlns:p14="http://schemas.microsoft.com/office/powerpoint/2010/main" val="158673703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1C20"/>
                </a:solidFill>
                <a:latin typeface="Aptos Display"/>
              </a:rPr>
              <a:t>Designed for uncertainty, cold starts and access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474720" cy="32461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32461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3502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SCENARIO 1  |  MULTI-FACTOR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83080"/>
            <a:ext cx="3108960" cy="2532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Known compound event.
70% macro port strike + 30% internal inventory backlog.
System gives exact attribution, evidence lineage and an action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188720"/>
            <a:ext cx="3474720" cy="32461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188720"/>
            <a:ext cx="64008" cy="32461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33502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SCENARIO 2  |  AMBIGUOUS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783080"/>
            <a:ext cx="3108960" cy="2532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Conflicting evidence triggers explicit abstention.
Instead of inventing a cause, the engine ranks hypotheses (e.g. 58% vs 42%) and proposes two low-cost canary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188720"/>
            <a:ext cx="3474720" cy="32461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188720"/>
            <a:ext cx="64008" cy="32461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33502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SCENARIO 3  |  COLD 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1783080"/>
            <a:ext cx="3108960" cy="2532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Sparse history: N = 6 &lt; 14.
Uses a Bayesian category prior and wide uncertainty bands (±45%) rather than pretending the baseline is precise.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SCENARIO 4  |  ROLE-BASED ENTITLEMENTS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16636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50" b="1">
                <a:solidFill>
                  <a:srgbClr val="1C1C20"/>
                </a:solidFill>
                <a:latin typeface="Aptos"/>
              </a:rPr>
              <a:t>Sensitive cost / margin fields are dynamically masked for unauthorized personas. Executives receive strategic economics; Operations receives actionable playbooks and system-level details.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/>
        </p:txBody>
      </p:sp>
      <p:sp>
        <p:nvSpPr>
          <p:cNvPr id="3" name="Picture Placeholder 2"/>
          <p:cNvSpPr>
            <a:spLocks noGrp="1"/>
          </p:cNvSpPr>
          <p:nvPr>
            <p:ph type="pic" idx="11" sz="quarter"/>
          </p:nvPr>
        </p:nvSpPr>
        <p:spPr/>
        <p:txBody>
          <a:bodyPr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1C20"/>
                </a:solidFill>
                <a:latin typeface="Aptos Display"/>
              </a:rPr>
              <a:t>From root cause to an executable recovery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3474720" cy="201168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64008" cy="201168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380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1  SYNTHESIZE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28800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Merge specialist findings with deterministic attribution.
Return cause contribution, confidence, evidence and unresolved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1234440"/>
            <a:ext cx="3474720" cy="201168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0520" y="1234440"/>
            <a:ext cx="64008" cy="201168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380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2  SIMULATE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1828800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Project 30 / 60 / 90-day trajectories.
Compare recovery revenue, intervention cost, risk and payback before committing spend.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34440"/>
            <a:ext cx="3474720" cy="201168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1234440"/>
            <a:ext cx="64008" cy="201168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73568" y="1380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3  CONSTRAIN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1828800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Executives can mix human judgment with model output.
Budget caps, time horizon and policy overrides immediately recalculate the plan.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03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PERSONA-TAILORED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160520"/>
            <a:ext cx="5074920" cy="14173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160520"/>
            <a:ext cx="64008" cy="14173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306824"/>
            <a:ext cx="47091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Executive / VP brief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754880"/>
            <a:ext cx="4709159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Strategic levers • macro exposure • recovery economics • investment trade-offs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160520"/>
            <a:ext cx="5074920" cy="141732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4160520"/>
            <a:ext cx="64008" cy="141732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4306824"/>
            <a:ext cx="47091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Operations / Category Manager brief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44768" y="4754880"/>
            <a:ext cx="4709159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Playbook steps • system IDs • operational blockers • owners and next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806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0">
                <a:solidFill>
                  <a:srgbClr val="5C5C62"/>
                </a:solidFill>
                <a:latin typeface="Aptos"/>
              </a:rPr>
              <a:t>Human-in-the-loop feedback is captured through ratings, corrections and constraint mixing — creating a controlled learning loop.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 Display"/>
              </a:rPr>
              <a:t>Enterprise-ready controls: evidence, lineage, telemetry and fallback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93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Governed semantic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3736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Canonical KPI formulas, lineage graph and invariant checks keep every component aligned to the same business definitions.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14300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14300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2893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Evidence + lineage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173736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The UI exposes source freshness, supporting records and the path from raw evidence → hypothesis → recommendation.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14300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14300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2893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Runtime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3568" y="173736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Track latency (ms), token usage, deterministic-math vs LLM split and estimated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2044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2044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666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Pluggable providers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1480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Live OpenAI / Gemini / Ollama support with an instant deterministic mock fallback for reliable demos and testing.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352044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60520" y="352044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3666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Tested end-to-end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11480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Headless test suite covers all four scenarios, math invariants and RBAC; adversarial stress testing includes 10,000 randomized Shapley trials.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3520440"/>
            <a:ext cx="3474720" cy="2057400"/>
          </a:xfrm>
          <a:prstGeom prst="roundRect">
            <a:avLst/>
          </a:prstGeom>
          <a:solidFill>
            <a:srgbClr val="F6F6F9"/>
          </a:solidFill>
          <a:ln>
            <a:solidFill>
              <a:srgbClr val="DC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0" y="3520440"/>
            <a:ext cx="64008" cy="2057400"/>
          </a:xfrm>
          <a:prstGeom prst="rect">
            <a:avLst/>
          </a:prstGeom>
          <a:solidFill>
            <a:srgbClr val="A6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73568" y="366674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C1C20"/>
                </a:solidFill>
                <a:latin typeface="Aptos"/>
              </a:rPr>
              <a:t>Trust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114800"/>
            <a:ext cx="310896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80" b="0">
                <a:solidFill>
                  <a:srgbClr val="1C1C20"/>
                </a:solidFill>
                <a:latin typeface="Aptos"/>
              </a:rPr>
              <a:t>AI never owns the arithmetic. It explains evidence, ranks hypotheses and recommends actions within governed constraints.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Core principle: auditable math + contextual AI + explicit uncertainty + human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926080"/>
            <a:ext cx="8686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A600FF"/>
                </a:solidFill>
                <a:latin typeface="Aptos Display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8620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A600FF"/>
                </a:solidFill>
                <a:latin typeface="Aptos"/>
              </a:rPr>
              <a:t>BusinessIntelligence.ai  •  Team Warriors  •  IIT Patna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48056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A600FF"/>
                </a:solidFill>
                <a:latin typeface="Aptos Display"/>
              </a:rPr>
              <a:t>Detect → Diagnose → Simulate → 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4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747</Words>
  <Application>Microsoft Office PowerPoint</Application>
  <PresentationFormat>Widescreen</PresentationFormat>
  <Paragraphs>49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Wingdings</vt:lpstr>
      <vt:lpstr>Accenture 2025</vt:lpstr>
      <vt:lpstr>Titles</vt:lpstr>
      <vt:lpstr>1_Office Theme</vt:lpstr>
      <vt:lpstr>1_Accenture 2025</vt:lpstr>
      <vt:lpstr>PowerPoint Presentation</vt:lpstr>
      <vt:lpstr>Team details</vt:lpstr>
      <vt:lpstr>Describe the problem statement (200 words)</vt:lpstr>
      <vt:lpstr>Proposed solution (200 words)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the last</cp:lastModifiedBy>
  <cp:revision>7</cp:revision>
  <dcterms:created xsi:type="dcterms:W3CDTF">2026-07-24T04:09:52Z</dcterms:created>
  <dcterms:modified xsi:type="dcterms:W3CDTF">2026-08-16T11:40:30Z</dcterms:modified>
</cp:coreProperties>
</file>