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2.svg" ContentType="image/svg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699" r:id="rId3"/>
    <p:sldMasterId id="2147483713" r:id="rId4"/>
  </p:sldMasterIdLst>
  <p:notesMasterIdLst>
    <p:notesMasterId r:id="rId11"/>
  </p:notesMasterIdLst>
  <p:sldIdLst>
    <p:sldId id="820" r:id="rId5"/>
    <p:sldId id="2857" r:id="rId6"/>
    <p:sldId id="1906872563" r:id="rId7"/>
    <p:sldId id="1906872569" r:id="rId8"/>
    <p:sldId id="1906872572" r:id="rId9"/>
    <p:sldId id="1906872573" r:id="rId18"/>
    <p:sldId id="1906872574" r:id="rId19"/>
    <p:sldId id="1906872575" r:id="rId20"/>
    <p:sldId id="19068725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11.emf"/><Relationship Id="rId4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4.xml"/><Relationship Id="rId39" Type="http://schemas.openxmlformats.org/officeDocument/2006/relationships/slideLayout" Target="../slideLayouts/slideLayout65.xml"/><Relationship Id="rId4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69.xml"/><Relationship Id="rId44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2.xml"/><Relationship Id="rId47" Type="http://schemas.openxmlformats.org/officeDocument/2006/relationships/slideLayout" Target="../slideLayouts/slideLayout73.xml"/><Relationship Id="rId48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75.xml"/><Relationship Id="rId50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79.xml"/><Relationship Id="rId54" Type="http://schemas.openxmlformats.org/officeDocument/2006/relationships/slideLayout" Target="../slideLayouts/slideLayout80.xml"/><Relationship Id="rId55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83.xml"/><Relationship Id="rId5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image" Target="../media/image1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 lIns="73152" rIns="73152" tIns="54864" bIns="54864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0B0503030202060203" pitchFamily="34" charset="77"/>
                <a:ea typeface="+mn-ea"/>
                <a:cs typeface="+mn-cs"/>
              </a:rPr>
              <a:t>From KPI anomaly to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 lIns="73152" rIns="73152" tIns="54864" bIns="54864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43200" y="4754880"/>
            <a:ext cx="6858000" cy="41148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A600FF"/>
                </a:solidFill>
                <a:latin typeface="Aptos"/>
              </a:rPr>
              <a:t>BusinessIntelligence.ai  |  KPI Intelligence-to-Action Engine</a:t>
            </a:r>
          </a:p>
        </p:txBody>
      </p:sp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 wrap="square" lIns="73152" rIns="73152" tIns="54864" bIns="54864"/>
          <a:lstStyle/>
          <a:p>
            <a:pPr>
              <a:lnSpc>
                <a:spcPct val="115000"/>
              </a:lnSpc>
              <a:defRPr sz="2200" b="1"/>
            </a:pPr>
            <a:r>
              <a:rPr lang="en-US" dirty="0" sz="1500" b="1">
                <a:solidFill>
                  <a:srgbClr val="1C1C20"/>
                </a:solidFill>
                <a:latin typeface="Aptos Display"/>
              </a:rPr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 wrap="square" lIns="73152" rIns="73152" tIns="54864" bIns="54864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2405772"/>
            <a:ext cx="1434218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73152" tIns="54864" rIns="73152" bIns="54864" rtlCol="0" anchor="b" wrap="square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A600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Harsh Singh Baghel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 lIns="73152" rIns="73152" tIns="54864" bIns="5486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ptos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73152" tIns="54864" rIns="73152" bIns="54864" rtlCol="0" anchor="b" wrap="square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sz="1600">
                <a:latin typeface="Aptos"/>
              </a:rPr>
              <a:t>Rathod Rudra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1998" y="2405772"/>
            <a:ext cx="1510522" cy="1471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2" y="2199446"/>
            <a:ext cx="2283067" cy="710629"/>
          </a:xfrm>
          <a:prstGeom prst="rect">
            <a:avLst/>
          </a:prstGeom>
        </p:spPr>
        <p:txBody>
          <a:bodyPr vert="horz" lIns="73152" tIns="54864" rIns="73152" bIns="54864" rtlCol="0" anchor="b" wrap="square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15000"/>
              </a:lnSpc>
              <a:defRPr/>
            </a:pPr>
            <a:r>
              <a:rPr lang="en-GB" sz="2800" dirty="0" b="1">
                <a:solidFill>
                  <a:srgbClr val="A600FF"/>
                </a:solidFill>
                <a:latin typeface="Aptos Display"/>
              </a:rPr>
              <a:t>Dhruv Maheshwari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31207"/>
              </p:ext>
            </p:extLst>
          </p:nvPr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  Warriors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College: IIT Patna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Stream: Engineering Physics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lvl="0">
              <a:lnSpc>
                <a:spcPct val="115000"/>
              </a:lnSpc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College: IIT Patna</a:t>
            </a:r>
          </a:p>
          <a:p>
            <a:pPr lvl="0">
              <a:lnSpc>
                <a:spcPct val="115000"/>
              </a:lnSpc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Stream: Engineering Physics</a:t>
            </a:r>
          </a:p>
          <a:p>
            <a:pPr lvl="0">
              <a:lnSpc>
                <a:spcPct val="115000"/>
              </a:lnSpc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Year of graduation: 2029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lvl="0">
              <a:lnSpc>
                <a:spcPct val="115000"/>
              </a:lnSpc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College: IIT Patna</a:t>
            </a:r>
          </a:p>
          <a:p>
            <a:pPr lvl="0">
              <a:lnSpc>
                <a:spcPct val="115000"/>
              </a:lnSpc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Stream: Engineering Physics</a:t>
            </a:r>
          </a:p>
          <a:p>
            <a:pPr lvl="0">
              <a:lnSpc>
                <a:spcPct val="115000"/>
              </a:lnSpc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Year of graduation: 2028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4361533"/>
            <a:ext cx="1434218" cy="1471323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160520" y="6263640"/>
            <a:ext cx="3840480" cy="32004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  <a:defRPr sz="1400" b="1"/>
            </a:pPr>
            <a:r>
              <a:rPr sz="1100" b="1">
                <a:solidFill>
                  <a:srgbClr val="A600FF"/>
                </a:solidFill>
                <a:latin typeface="Aptos"/>
              </a:rPr>
              <a:t>TEAM WARRIORS  •  IIT PATNA</a:t>
            </a:r>
          </a:p>
        </p:txBody>
      </p:sp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 wrap="square" lIns="73152" rIns="73152" tIns="54864" bIns="54864">
            <a:normAutofit/>
          </a:bodyPr>
          <a:lstStyle/>
          <a:p>
            <a:pPr>
              <a:lnSpc>
                <a:spcPct val="115000"/>
              </a:lnSpc>
            </a:pPr>
            <a:endParaRPr lang="en-IN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9BBD3-4F02-1DCE-6B74-90C4E0B91E57}"/>
              </a:ext>
            </a:extLst>
          </p:cNvPr>
          <p:cNvSpPr txBox="1"/>
          <p:nvPr/>
        </p:nvSpPr>
        <p:spPr>
          <a:xfrm>
            <a:off x="361458" y="1102132"/>
            <a:ext cx="11282796" cy="5355312"/>
          </a:xfrm>
          <a:prstGeom prst="rect">
            <a:avLst/>
          </a:prstGeom>
          <a:noFill/>
        </p:spPr>
        <p:txBody>
          <a:bodyPr wrap="square" rtlCol="0" lIns="73152" rIns="73152" tIns="54864" bIns="54864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2200" b="1"/>
            </a:pPr>
            <a:r>
              <a:rPr sz="2200" b="1">
                <a:solidFill>
                  <a:srgbClr val="1C1C20"/>
                </a:solidFill>
                <a:latin typeface="Aptos Display"/>
              </a:rPr>
              <a:t>The problem: dashboards explain WHAT, not WHY or WHAT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94960" cy="68580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1C20"/>
                </a:solidFill>
                <a:latin typeface="Aptos"/>
              </a:rPr>
              <a:t>A red KPI is only a symptom. The real business question is: what caused the deviation, how much did each factor contribute, and what should we do now?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3429000" cy="16916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64008" cy="16916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49808" y="2203704"/>
            <a:ext cx="306324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Internal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063240" cy="9784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ERP sales &amp; order data
Inventory / warehouse backlog
Jira defects and support tickets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057400"/>
            <a:ext cx="3429000" cy="16916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4160520" y="2057400"/>
            <a:ext cx="64008" cy="16916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361688" y="2203704"/>
            <a:ext cx="306324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External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651760"/>
            <a:ext cx="3063240" cy="9784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Supply-chain disruption
Port strikes / tariffs
Competitor pricing and market shocks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057400"/>
            <a:ext cx="3429000" cy="16916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7772400" y="2057400"/>
            <a:ext cx="64008" cy="16916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73568" y="2203704"/>
            <a:ext cx="306324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Human 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651760"/>
            <a:ext cx="3063240" cy="9784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Analysts manually join SQL, tickets, operations and news. Investigation can take 4–7 days.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  <a:defRPr sz="1400" b="1"/>
            </a:pPr>
            <a:r>
              <a:rPr sz="1500" b="1">
                <a:solidFill>
                  <a:srgbClr val="A600FF"/>
                </a:solidFill>
                <a:latin typeface="Aptos Display"/>
              </a:rPr>
              <a:t>THREE ENTERPRISE RISKS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72000"/>
            <a:ext cx="3246120" cy="12344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1" name="Rectangle 20"/>
          <p:cNvSpPr/>
          <p:nvPr/>
        </p:nvSpPr>
        <p:spPr>
          <a:xfrm>
            <a:off x="685800" y="4572000"/>
            <a:ext cx="64008" cy="12344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86968" y="4718304"/>
            <a:ext cx="28803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Critical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166360"/>
            <a:ext cx="2880360" cy="5212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280" b="0">
                <a:solidFill>
                  <a:srgbClr val="1C1C20"/>
                </a:solidFill>
                <a:latin typeface="Aptos"/>
              </a:rPr>
              <a:t>By the time root cause is known, revenue loss may already be permanent.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4572000"/>
            <a:ext cx="3246120" cy="12344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5" name="Rectangle 24"/>
          <p:cNvSpPr/>
          <p:nvPr/>
        </p:nvSpPr>
        <p:spPr>
          <a:xfrm>
            <a:off x="4069080" y="4572000"/>
            <a:ext cx="64008" cy="12344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270248" y="4718304"/>
            <a:ext cx="28803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Alert fatigue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5166360"/>
            <a:ext cx="2880360" cy="5212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280" b="0">
                <a:solidFill>
                  <a:srgbClr val="1C1C20"/>
                </a:solidFill>
                <a:latin typeface="Aptos"/>
              </a:rPr>
              <a:t>Normal weekend or seasonal movement gets investigated as an incident.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4572000"/>
            <a:ext cx="3246120" cy="12344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9" name="Rectangle 28"/>
          <p:cNvSpPr/>
          <p:nvPr/>
        </p:nvSpPr>
        <p:spPr>
          <a:xfrm>
            <a:off x="7452360" y="4572000"/>
            <a:ext cx="64008" cy="12344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653528" y="4718304"/>
            <a:ext cx="28803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Decision guesswork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528" y="5166360"/>
            <a:ext cx="2880360" cy="5212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280" b="0">
                <a:solidFill>
                  <a:srgbClr val="1C1C20"/>
                </a:solidFill>
                <a:latin typeface="Aptos"/>
              </a:rPr>
              <a:t>Leadership lacks quantified causal evidence and recovery scenarios.</a:t>
            </a: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73152" tIns="54864" rIns="73152" bIns="54864" rtlCol="0" anchor="ctr" wrap="square">
            <a:normAutofit/>
          </a:bodyPr>
          <a:lstStyle/>
          <a:p>
            <a:pPr>
              <a:lnSpc>
                <a:spcPct val="115000"/>
              </a:lnSpc>
            </a:p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B3A8E-8CD7-BACF-E784-DACC04D7DC42}"/>
              </a:ext>
            </a:extLst>
          </p:cNvPr>
          <p:cNvSpPr txBox="1"/>
          <p:nvPr/>
        </p:nvSpPr>
        <p:spPr>
          <a:xfrm>
            <a:off x="340961" y="1078992"/>
            <a:ext cx="11282796" cy="5170646"/>
          </a:xfrm>
          <a:prstGeom prst="rect">
            <a:avLst/>
          </a:prstGeom>
          <a:noFill/>
        </p:spPr>
        <p:txBody>
          <a:bodyPr wrap="square" rtlCol="0" lIns="73152" rIns="73152" tIns="54864" bIns="54864">
            <a:spAutoFit/>
          </a:bodyPr>
          <a:lstStyle/>
          <a:p>
            <a:pPr>
              <a:lnSpc>
                <a:spcPct val="115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2200" b="1"/>
            </a:pPr>
            <a:r>
              <a:rPr sz="2200" b="1">
                <a:solidFill>
                  <a:srgbClr val="1C1C20"/>
                </a:solidFill>
                <a:latin typeface="Aptos Display"/>
              </a:rPr>
              <a:t>Foundation: governed data + deterministic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38404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5C5C62"/>
                </a:solidFill>
                <a:latin typeface="Aptos"/>
              </a:rPr>
              <a:t>Before any LLM reasoning, the platform standardizes data, detects true anomalies and calculates exact KPI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49808" y="1837944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4 canonical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2194560" cy="12070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Gross Revenue
Order Volume
Conversion Rate
Average Order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493008" y="1837944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Heterogeneous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286000"/>
            <a:ext cx="2194560" cy="12070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Daily ERP transactions
Hourly web sessions
Weekly Jira + support logs
Governed semantic contract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0350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236207" y="1837944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SPC anomaly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286000"/>
            <a:ext cx="2194560" cy="12070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28-day rolling baseline
Day-of-week normalization
Trigger at &gt;2.5σ
Filters ordinary fluctuations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87782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979408" y="1837944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Exact causal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2286000"/>
            <a:ext cx="2194560" cy="120700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Closed-form Shapley / LMDI-style decomposition
Zero residual by construction
No LLM math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10972800" cy="32004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  <a:defRPr sz="1400" b="1"/>
            </a:pPr>
            <a:r>
              <a:rPr sz="1500" b="1">
                <a:solidFill>
                  <a:srgbClr val="A600FF"/>
                </a:solidFill>
                <a:latin typeface="Aptos Display"/>
              </a:rPr>
              <a:t>EXACT KPI 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10424160" cy="5943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A600FF"/>
                </a:solidFill>
                <a:latin typeface="Aptos Display"/>
              </a:rPr>
              <a:t>Revenue = Sessions × Conversion Rate × AOV
ΔRevenue = ΔSessions + ΔCVR + ΔAOV + Residual, with Residual 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257800"/>
            <a:ext cx="10058400" cy="7315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 b="0">
                <a:solidFill>
                  <a:srgbClr val="5C5C62"/>
                </a:solidFill>
                <a:latin typeface="Aptos"/>
              </a:rPr>
              <a:t>This creates an auditable boundary: deterministic mathematics owns measurement and attribution; AI owns contextual investigation, synthesis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8CF69-3B38-8F7E-8355-6FB19B15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F8975F-047D-2696-E8BE-A3A8DCE0C7AC}"/>
              </a:ext>
            </a:extLst>
          </p:cNvPr>
          <p:cNvSpPr txBox="1"/>
          <p:nvPr/>
        </p:nvSpPr>
        <p:spPr>
          <a:xfrm>
            <a:off x="340961" y="1078992"/>
            <a:ext cx="11282796" cy="4616648"/>
          </a:xfrm>
          <a:prstGeom prst="rect">
            <a:avLst/>
          </a:prstGeom>
          <a:noFill/>
        </p:spPr>
        <p:txBody>
          <a:bodyPr wrap="square" rtlCol="0" lIns="73152" rIns="73152" tIns="54864" bIns="54864">
            <a:spAutoFit/>
          </a:bodyPr>
          <a:lstStyle/>
          <a:p>
            <a:pPr>
              <a:lnSpc>
                <a:spcPct val="115000"/>
              </a:lnSpc>
            </a:p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CD560F5-3170-FA9D-6A82-64F26ABB6399}"/>
              </a:ext>
            </a:extLst>
          </p:cNvPr>
          <p:cNvSpPr txBox="1">
            <a:spLocks/>
          </p:cNvSpPr>
          <p:nvPr/>
        </p:nvSpPr>
        <p:spPr>
          <a:xfrm>
            <a:off x="340961" y="342685"/>
            <a:ext cx="11282796" cy="423125"/>
          </a:xfrm>
          <a:prstGeom prst="rect">
            <a:avLst/>
          </a:prstGeom>
          <a:solidFill>
            <a:srgbClr val="A100FF"/>
          </a:solidFill>
        </p:spPr>
        <p:txBody>
          <a:bodyPr vert="horz" lIns="73152" tIns="54864" rIns="73152" bIns="54864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</a:pPr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2200" b="1"/>
            </a:pPr>
            <a:r>
              <a:rPr sz="2200" b="1">
                <a:solidFill>
                  <a:srgbClr val="1C1C20"/>
                </a:solidFill>
                <a:latin typeface="Aptos Display"/>
              </a:rPr>
              <a:t>The 3-model architecture: investigate from both sides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10972800" cy="347472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C1C20"/>
                </a:solidFill>
                <a:latin typeface="Aptos Display"/>
              </a:rPr>
              <a:t>Two specialist models investigate independently; a third model reconciles evidence and turns it into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3520440" cy="27889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64008" cy="27889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04088" y="1792224"/>
            <a:ext cx="315468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MODEL 1  |  INTERNAL DIAGNOSTIC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40280"/>
            <a:ext cx="3154680" cy="2075687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Purpose: isolate operational bottlenecks.
Inputs:
• ERP/order backlog
• Warehouse / WMS signals
• Jira defects
• Customer support
Output: ranked internal hypotheses with supporting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645920"/>
            <a:ext cx="3520440" cy="27889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64008" cy="27889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407407" y="1792224"/>
            <a:ext cx="315468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MODEL 2  |  MACRO 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240280"/>
            <a:ext cx="3154680" cy="2075687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Purpose: detect external shocks invisible to internal systems.
Inputs:
• Live market / news feeds
• Supply-chain events
• Competitor moves
• Tariffs / disruption signals
Output: quantified external-impact hypotheses.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645920"/>
            <a:ext cx="3520440" cy="27889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9" name="Rectangle 18"/>
          <p:cNvSpPr/>
          <p:nvPr/>
        </p:nvSpPr>
        <p:spPr>
          <a:xfrm>
            <a:off x="7909560" y="1645920"/>
            <a:ext cx="64008" cy="27889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110728" y="1792224"/>
            <a:ext cx="315468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MODEL 3  |  DECISION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2240280"/>
            <a:ext cx="3154680" cy="2075687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Purpose: synthesize and prescribe.
Combines Model 1 + 2 with exact causal attribution, then produces:
• confidence / abstention state
• recommended actions
• 30/60/90-day trajectory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  <a:defRPr sz="1400" b="1"/>
            </a:pPr>
            <a:r>
              <a:rPr sz="1500" b="1">
                <a:solidFill>
                  <a:srgbClr val="A600FF"/>
                </a:solidFill>
                <a:latin typeface="Aptos Display"/>
              </a:rPr>
              <a:t>EXAMPLE: COMPOUND KPI 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3383280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  <a:defRPr sz="1400" b="1"/>
            </a:pPr>
            <a:r>
              <a:rPr sz="1700" b="1">
                <a:solidFill>
                  <a:srgbClr val="1C1C20"/>
                </a:solidFill>
                <a:latin typeface="Aptos"/>
              </a:rPr>
              <a:t>70%  Port strike
External shock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257800"/>
            <a:ext cx="3383280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  <a:defRPr sz="1400" b="1"/>
            </a:pPr>
            <a:r>
              <a:rPr sz="1700" b="1">
                <a:solidFill>
                  <a:srgbClr val="1C1C20"/>
                </a:solidFill>
                <a:latin typeface="Aptos"/>
              </a:rPr>
              <a:t>+  30%  WMS backlog
Internal 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257800"/>
            <a:ext cx="3749039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  <a:defRPr sz="1400" b="1"/>
            </a:pPr>
            <a:r>
              <a:rPr sz="1700" b="1">
                <a:solidFill>
                  <a:srgbClr val="1C1C20"/>
                </a:solidFill>
                <a:latin typeface="Aptos"/>
              </a:rPr>
              <a:t>100% explained
Zero-residual attribution</a:t>
            </a:r>
          </a:p>
        </p:txBody>
      </p:sp>
    </p:spTree>
    <p:extLst>
      <p:ext uri="{BB962C8B-B14F-4D97-AF65-F5344CB8AC3E}">
        <p14:creationId xmlns:p14="http://schemas.microsoft.com/office/powerpoint/2010/main" val="1586737036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 wrap="square" lIns="73152" rIns="73152" tIns="54864" bIns="54864"/>
          <a:p>
            <a:pPr>
              <a:lnSpc>
                <a:spcPct val="115000"/>
              </a:lnSpc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3152" rIns="73152" tIns="54864" bIns="54864"/>
          <a:lstStyle/>
          <a:p>
            <a:pPr>
              <a:lnSpc>
                <a:spcPct val="115000"/>
              </a:lnSpc>
            </a:p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54864" bIns="54864"/>
          <a:lstStyle/>
          <a:p>
            <a:pPr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2200" b="1"/>
            </a:pPr>
            <a:r>
              <a:rPr sz="2200" b="1">
                <a:solidFill>
                  <a:srgbClr val="1C1C20"/>
                </a:solidFill>
                <a:latin typeface="Aptos Display"/>
              </a:rPr>
              <a:t>Designed for uncertainty, cold starts and access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32461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32461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49808" y="133502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SCENARIO 1  |  MULTI-FACTOR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3108960" cy="2532887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Known compound event.
70% macro port strike + 30% internal inventory backlog.
System gives exact attribution, evidence lineage and an action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88720"/>
            <a:ext cx="3474720" cy="32461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1" name="Rectangle 10"/>
          <p:cNvSpPr/>
          <p:nvPr/>
        </p:nvSpPr>
        <p:spPr>
          <a:xfrm>
            <a:off x="4160520" y="1188720"/>
            <a:ext cx="64008" cy="32461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361688" y="133502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SCENARIO 2  |  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83080"/>
            <a:ext cx="3108960" cy="2532887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Conflicting evidence triggers explicit abstention.
Instead of inventing a cause, the engine ranks hypotheses (e.g. 58% vs 42%) and proposes two low-cost canary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188720"/>
            <a:ext cx="3474720" cy="32461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5" name="Rectangle 14"/>
          <p:cNvSpPr/>
          <p:nvPr/>
        </p:nvSpPr>
        <p:spPr>
          <a:xfrm>
            <a:off x="7772400" y="1188720"/>
            <a:ext cx="64008" cy="32461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973568" y="133502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SCENARIO 3  |  COLD 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1783080"/>
            <a:ext cx="3108960" cy="2532887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Sparse history: N = 6 &lt; 14.
Uses a Bayesian category prior and wide uncertainty bands (±45%) rather than pretending the baseline is precise.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0972800" cy="32004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  <a:defRPr sz="1400" b="1"/>
            </a:pPr>
            <a:r>
              <a:rPr sz="1500" b="1">
                <a:solidFill>
                  <a:srgbClr val="A600FF"/>
                </a:solidFill>
                <a:latin typeface="Aptos Display"/>
              </a:rPr>
              <a:t>SCENARIO 4  |  ROLE-BASED ENTITLEMENTS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424160" cy="64008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>
                <a:solidFill>
                  <a:srgbClr val="1C1C20"/>
                </a:solidFill>
                <a:latin typeface="Aptos"/>
              </a:rPr>
              <a:t>Sensitive cost / margin fields are dynamically masked for unauthorized personas. Executives receive strategic economics; Operations receives actionable playbooks and system-level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 wrap="square" lIns="73152" rIns="73152" tIns="54864" bIns="54864"/>
          <a:p>
            <a:pPr>
              <a:lnSpc>
                <a:spcPct val="115000"/>
              </a:lnSpc>
            </a:pP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 wrap="square" lIns="73152" rIns="73152" tIns="54864" bIns="54864"/>
          <a:p>
            <a:pPr>
              <a:lnSpc>
                <a:spcPct val="115000"/>
              </a:lnSpc>
            </a:p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 lIns="73152" rIns="73152" tIns="54864" bIns="54864"/>
          <a:lstStyle/>
          <a:p>
            <a:pPr>
              <a:lnSpc>
                <a:spcPct val="115000"/>
              </a:lnSpc>
            </a:p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54864" bIns="54864"/>
          <a:lstStyle/>
          <a:p>
            <a:pPr>
              <a:lnSpc>
                <a:spcPct val="115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2200" b="1"/>
            </a:pPr>
            <a:r>
              <a:rPr sz="2200" b="1">
                <a:solidFill>
                  <a:srgbClr val="1C1C20"/>
                </a:solidFill>
                <a:latin typeface="Aptos Display"/>
              </a:rPr>
              <a:t>From root cause to an executable recovery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474720" cy="201168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64008" cy="201168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49808" y="138074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1  SYNTHESIZE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3108960" cy="129844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Merge specialist findings with deterministic attribution.
Return cause contribution, confidence, evidence and unresolved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234440"/>
            <a:ext cx="3474720" cy="201168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4160520" y="1234440"/>
            <a:ext cx="64008" cy="201168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361688" y="138074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2  SIMULATE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828800"/>
            <a:ext cx="3108960" cy="129844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Project 30 / 60 / 90-day trajectories.
Compare recovery revenue, intervention cost, risk and payback before committing spend.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34440"/>
            <a:ext cx="3474720" cy="201168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7772400" y="1234440"/>
            <a:ext cx="64008" cy="201168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73568" y="138074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3  CONSTRAIN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1828800"/>
            <a:ext cx="3108960" cy="129844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Executives can mix human judgment with model output.
Budget caps, time horizon and policy overrides immediately recalculate the plan.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10972800" cy="32004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  <a:defRPr sz="1400" b="1"/>
            </a:pPr>
            <a:r>
              <a:rPr sz="1500" b="1">
                <a:solidFill>
                  <a:srgbClr val="A600FF"/>
                </a:solidFill>
                <a:latin typeface="Aptos Display"/>
              </a:rPr>
              <a:t>PERSONA-TAILORED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5074920" cy="14173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1" name="Rectangle 20"/>
          <p:cNvSpPr/>
          <p:nvPr/>
        </p:nvSpPr>
        <p:spPr>
          <a:xfrm>
            <a:off x="685800" y="4160520"/>
            <a:ext cx="64008" cy="14173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86968" y="4306824"/>
            <a:ext cx="4709159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C20"/>
                </a:solidFill>
                <a:latin typeface="Aptos"/>
              </a:rPr>
              <a:t>Executive / VP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754880"/>
            <a:ext cx="4709159" cy="70408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Strategic levers • macro exposure • recovery economics • investment trade-offs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160520"/>
            <a:ext cx="5074920" cy="14173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5" name="Rectangle 24"/>
          <p:cNvSpPr/>
          <p:nvPr/>
        </p:nvSpPr>
        <p:spPr>
          <a:xfrm>
            <a:off x="5943600" y="4160520"/>
            <a:ext cx="64008" cy="14173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144768" y="4306824"/>
            <a:ext cx="4709159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C20"/>
                </a:solidFill>
                <a:latin typeface="Aptos"/>
              </a:rPr>
              <a:t>Operations / Category Manager brief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4754880"/>
            <a:ext cx="4709159" cy="70408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Playbook steps • system IDs • operational blockers • owners and next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0">
                <a:solidFill>
                  <a:srgbClr val="5C5C62"/>
                </a:solidFill>
                <a:latin typeface="Aptos"/>
              </a:rPr>
              <a:t>Human-in-the-loop feedback is captured through ratings, corrections and constraint mixing — creating a controlled learning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 wrap="square" lIns="73152" rIns="73152" tIns="54864" bIns="54864"/>
          <a:p>
            <a:pPr>
              <a:lnSpc>
                <a:spcPct val="115000"/>
              </a:lnSpc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73152" rIns="73152" tIns="54864" bIns="54864"/>
          <a:lstStyle/>
          <a:p>
            <a:pPr>
              <a:lnSpc>
                <a:spcPct val="115000"/>
              </a:lnSpc>
            </a:p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54864" bIns="54864"/>
          <a:lstStyle/>
          <a:p>
            <a:pPr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2200" b="1"/>
            </a:pPr>
            <a:r>
              <a:rPr sz="2200" b="1">
                <a:solidFill>
                  <a:srgbClr val="FFFFFF"/>
                </a:solidFill>
                <a:latin typeface="Aptos Display"/>
              </a:rPr>
              <a:t>Enterprise-ready controls: evidence, lineage, telemetry and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49808" y="128930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Governed semantic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37360"/>
            <a:ext cx="3108960" cy="134416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Canonical KPI formulas, lineage graph and invariant checks keep every component aligned to the same business definitions.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4300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1" name="Rectangle 10"/>
          <p:cNvSpPr/>
          <p:nvPr/>
        </p:nvSpPr>
        <p:spPr>
          <a:xfrm>
            <a:off x="4160520" y="114300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361688" y="128930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Evidence + lineage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37360"/>
            <a:ext cx="3108960" cy="134416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The UI exposes source freshness, supporting records and the path from raw evidence → hypothesis →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14300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5" name="Rectangle 14"/>
          <p:cNvSpPr/>
          <p:nvPr/>
        </p:nvSpPr>
        <p:spPr>
          <a:xfrm>
            <a:off x="7772400" y="114300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973568" y="128930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Runtime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1737360"/>
            <a:ext cx="3108960" cy="134416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Track latency (ms), token usage, deterministic-math vs LLM split and estimated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9" name="Rectangle 18"/>
          <p:cNvSpPr/>
          <p:nvPr/>
        </p:nvSpPr>
        <p:spPr>
          <a:xfrm>
            <a:off x="548640" y="352044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49808" y="366674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Pluggable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114800"/>
            <a:ext cx="3108960" cy="134416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Live OpenAI / Gemini / Ollama support with an instant deterministic mock fallback for reliable demos and testing.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52044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3" name="Rectangle 22"/>
          <p:cNvSpPr/>
          <p:nvPr/>
        </p:nvSpPr>
        <p:spPr>
          <a:xfrm>
            <a:off x="4160520" y="352044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361688" y="366674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Tested end-to-end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114800"/>
            <a:ext cx="3108960" cy="134416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Headless test suite covers all four scenarios, math invariants and RBAC; adversarial stress testing includes 10,000 randomized Shapley trials.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52044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7" name="Rectangle 26"/>
          <p:cNvSpPr/>
          <p:nvPr/>
        </p:nvSpPr>
        <p:spPr>
          <a:xfrm>
            <a:off x="7772400" y="352044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7973568" y="3666744"/>
            <a:ext cx="3108960" cy="36576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  <a:defRPr sz="1400" b="1"/>
            </a:pPr>
            <a:r>
              <a:rPr sz="1500" b="1">
                <a:solidFill>
                  <a:srgbClr val="1C1C20"/>
                </a:solidFill>
                <a:latin typeface="Aptos"/>
              </a:rPr>
              <a:t>Trust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4114800"/>
            <a:ext cx="3108960" cy="1344168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l">
              <a:lnSpc>
                <a:spcPct val="115000"/>
              </a:lnSpc>
            </a:pPr>
            <a:r>
              <a:rPr sz="1280" b="0">
                <a:solidFill>
                  <a:srgbClr val="1C1C20"/>
                </a:solidFill>
                <a:latin typeface="Aptos"/>
              </a:rPr>
              <a:t>AI never owns the arithmetic. It explains evidence, ranks hypotheses and recommends actions within governed constraints.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A600FF"/>
                </a:solidFill>
                <a:latin typeface="Aptos Display"/>
              </a:rPr>
              <a:t>Core principle: auditable math + contextual AI + explicit uncertainty + human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73152" rIns="73152" tIns="54864" bIns="54864"/>
          <a:lstStyle/>
          <a:p>
            <a:pPr>
              <a:lnSpc>
                <a:spcPct val="115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686800" cy="50292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A600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86200"/>
            <a:ext cx="8686800" cy="41148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A600FF"/>
                </a:solidFill>
                <a:latin typeface="Aptos"/>
              </a:rPr>
              <a:t>BusinessIntelligence.ai  •  Team Warriors  •  IIT Patna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686800" cy="411480"/>
          </a:xfrm>
          <a:prstGeom prst="rect">
            <a:avLst/>
          </a:prstGeom>
          <a:noFill/>
        </p:spPr>
        <p:txBody>
          <a:bodyPr wrap="square" anchor="t" lIns="73152" rIns="73152" tIns="54864" bIns="54864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A600FF"/>
                </a:solidFill>
                <a:latin typeface="Aptos Display"/>
              </a:rPr>
              <a:t>Detect → Diagnose → Simulate → 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747</Words>
  <Application>Microsoft Office PowerPoint</Application>
  <PresentationFormat>Widescreen</PresentationFormat>
  <Paragraphs>49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Wingdings</vt:lpstr>
      <vt:lpstr>Accenture 2025</vt:lpstr>
      <vt:lpstr>Titles</vt:lpstr>
      <vt:lpstr>1_Office Theme</vt:lpstr>
      <vt:lpstr>1_Accenture 2025</vt:lpstr>
      <vt:lpstr>PowerPoint Presentation</vt:lpstr>
      <vt:lpstr>Team details</vt:lpstr>
      <vt:lpstr>Describe the problem statement (200 words)</vt:lpstr>
      <vt:lpstr>Proposed solution (200 words)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the last</cp:lastModifiedBy>
  <cp:revision>7</cp:revision>
  <dcterms:created xsi:type="dcterms:W3CDTF">2026-07-24T04:09:52Z</dcterms:created>
  <dcterms:modified xsi:type="dcterms:W3CDTF">2026-08-16T11:40:30Z</dcterms:modified>
</cp:coreProperties>
</file>