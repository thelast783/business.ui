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1"/>
  </p:notesMasterIdLst>
  <p:sldIdLst>
    <p:sldId id="820" r:id="rId5"/>
    <p:sldId id="2857" r:id="rId6"/>
    <p:sldId id="2858" r:id="rId9"/>
    <p:sldId id="2859" r:id="rId8"/>
    <p:sldId id="2860" r:id="rId7"/>
    <p:sldId id="2861" r:id="rId18"/>
    <p:sldId id="2862" r:id="rId19"/>
    <p:sldId id="2863" r:id="rId20"/>
    <p:sldId id="2864" r:id="rId21"/>
    <p:sldId id="2865" r:id="rId22"/>
    <p:sldId id="2866" r:id="rId23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4.xml"/><Relationship Id="rId39" Type="http://schemas.openxmlformats.org/officeDocument/2006/relationships/slideLayout" Target="../slideLayouts/slideLayout65.xml"/><Relationship Id="rId4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69.xml"/><Relationship Id="rId44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2.xml"/><Relationship Id="rId47" Type="http://schemas.openxmlformats.org/officeDocument/2006/relationships/slideLayout" Target="../slideLayouts/slideLayout73.xml"/><Relationship Id="rId48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5.xml"/><Relationship Id="rId50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83.xml"/><Relationship Id="rId5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2405772"/>
            <a:ext cx="1434218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Harsh Singh Baghel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latin typeface="Graphik"/>
              </a:rPr>
              <a:t>Rathod Rudra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1998" y="2405772"/>
            <a:ext cx="1510522" cy="147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2" y="2199446"/>
            <a:ext cx="2283067" cy="71062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GB" sz="3300" dirty="0"/>
              <a:t>Dhruv Maheshwari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31207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 Warriors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Engineering Physics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4361533"/>
            <a:ext cx="1434218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Problem: The Telemetry-to-Action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59E0B"/>
                </a:solidFill>
              </a:defRPr>
            </a:pPr>
            <a:r>
              <a:t>The Operational Dilemma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Noisy Anomaly Alerts: </a:t>
            </a:r>
            <a:r>
              <a:rPr sz="1300">
                <a:solidFill>
                  <a:srgbClr val="94A3B8"/>
                </a:solidFill>
              </a:rPr>
              <a:t>Static dashboards flood leaders with false alarms, failing to isolate seasonal Day-of-Week swings from genuine operational breaks.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Multi-Source Data Silos: </a:t>
            </a:r>
            <a:r>
              <a:rPr sz="1300">
                <a:solidFill>
                  <a:srgbClr val="94A3B8"/>
                </a:solidFill>
              </a:rPr>
              <a:t>ERP SQL ledgers (daily), web session telemetry (hourly), and Jira tickets (weekly) are disconnected.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The LLM Hallucination Risk: </a:t>
            </a:r>
            <a:r>
              <a:rPr sz="1300">
                <a:solidFill>
                  <a:srgbClr val="94A3B8"/>
                </a:solidFill>
              </a:rPr>
              <a:t>Pure LLM analytics fabricate arithmetic totals, violate financial identities, and propose ungrounded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0B981"/>
                </a:solidFill>
              </a:defRPr>
            </a:pPr>
            <a:r>
              <a:t>Our Architectural Solution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Deterministic Math Core: </a:t>
            </a:r>
            <a:r>
              <a:rPr sz="1300">
                <a:solidFill>
                  <a:srgbClr val="94A3B8"/>
                </a:solidFill>
              </a:rPr>
              <a:t>Statistical Process Control (28-day DoW baseline) + exact 3-Factor Shapley decomposition with guaranteed $0.00 residual error.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3-Model AI Diagnostic Triad: </a:t>
            </a:r>
            <a:r>
              <a:rPr sz="1300">
                <a:solidFill>
                  <a:srgbClr val="94A3B8"/>
                </a:solidFill>
              </a:rPr>
              <a:t>Internal diagnostic (Model 1) + Live macro sentinel (Model 2) + Prescriptive ROI trajectory simulator (Model 3).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F8FAFC"/>
                </a:solidFill>
              </a:rPr>
              <a:t>Governed Safe Action Engine: </a:t>
            </a:r>
            <a:r>
              <a:rPr sz="1300">
                <a:solidFill>
                  <a:srgbClr val="94A3B8"/>
                </a:solidFill>
              </a:rPr>
              <a:t>Explicit abstention protocol under ambiguity ($&lt;25\%$ confidence delta) prescribing low-cost canary validation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Governed Semantic Contract &amp; Multi-Source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Daily ERP Sales Transactions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Daily Grain (Structured SQL)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Contains transaction orders, SKU categories, quantities, unit prices, and confidential COGS.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1,420 rows  ·  24h SLA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Hourly Web Analytics Stream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Hourly Grain (Event Stream)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Captures visitor sessions, funnel drop-offs, bounce rates, and checkout initiation events.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696 hourly bins  ·  1h SLA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Weekly Support &amp; Jira Logs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Weekly Grain (Semi-Structured)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Customer friction tickets, warehouse error logs, and shipping delay incident taxonomy.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18 incidents  ·  168h SLA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Governed 4-KPI Connected Equation (Strict Mathematical Lineage)</a:t>
            </a:r>
          </a:p>
          <a:p>
            <a:pPr>
              <a:spcBef>
                <a:spcPts val="400"/>
              </a:spcBef>
              <a:defRPr sz="1600" b="1">
                <a:solidFill>
                  <a:srgbClr val="38BDF8"/>
                </a:solidFill>
              </a:defRPr>
            </a:pPr>
            <a:r>
              <a:t>Gross Revenue (R) = Sessions (S) × Conversion Rate (CR) × Average Order Value (AOV)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Deterministic Non-LLM Analytical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1. Statistical Process Control (SPC)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Signal vs. Noise Filtering: </a:t>
            </a:r>
            <a:r>
              <a:rPr sz="1200">
                <a:solidFill>
                  <a:srgbClr val="94A3B8"/>
                </a:solidFill>
              </a:rPr>
              <a:t>Applies 28-day rolling Day-of-Week seasonality index to prevent false alarms on regular weekend volume dips.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Dynamic Control Limits: </a:t>
            </a:r>
            <a:r>
              <a:rPr sz="1200">
                <a:solidFill>
                  <a:srgbClr val="94A3B8"/>
                </a:solidFill>
              </a:rPr>
              <a:t>Computes UCL and LCL at $\pm 2.5\sigma$. Identifies Day 29 anomaly ($z = -20.75\sigma$) as a true operational failure.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Zero LLM Tokens: </a:t>
            </a:r>
            <a:r>
              <a:rPr sz="1200">
                <a:solidFill>
                  <a:srgbClr val="94A3B8"/>
                </a:solidFill>
              </a:rPr>
              <a:t>Executed purely in vectorized NumPy/Pandas in $&lt;5\text{ms}$ with zero API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2. Exact 3-Factor Shapley Decomposition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Exact Closed-Form Math: </a:t>
            </a:r>
            <a:r>
              <a:rPr sz="1200">
                <a:solidFill>
                  <a:srgbClr val="94A3B8"/>
                </a:solidFill>
              </a:rPr>
              <a:t>Decomposes $-\$65,600$ revenue drop across all factor permutation orderings (Sessions, CVR, AOV).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Attribution Breakdown: </a:t>
            </a:r>
            <a:r>
              <a:rPr sz="1200">
                <a:solidFill>
                  <a:srgbClr val="94A3B8"/>
                </a:solidFill>
              </a:rPr>
              <a:t>• Volume Impact: -$35,166 (-53.6%)
• Conversion Rate: -$22,667 (-34.6%)
• Basket Size (AOV): -$7,767 (-11.8%)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Zero Residual Guarantee: </a:t>
            </a:r>
            <a:r>
              <a:rPr sz="1200">
                <a:solidFill>
                  <a:srgbClr val="94A3B8"/>
                </a:solidFill>
              </a:rPr>
              <a:t>Sum of decomposed factors equals total revenue delta exactly: Residual $\epsilon = \$0.00$.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3-Model Cognitive AI Synthesis Triad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1: Diagnostic Engine</a:t>
            </a:r>
          </a:p>
          <a:p>
            <a:pPr>
              <a:spcBef>
                <a:spcPts val="400"/>
              </a:spcBef>
              <a:defRPr sz="1200">
                <a:solidFill>
                  <a:srgbClr val="0284C7"/>
                </a:solidFill>
              </a:defRPr>
            </a:pPr>
            <a:r>
              <a:t>Internal Operational Causes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Analyzes internal ERP staging queues and Jira tickets (JIRA-4819). Isolates a 30% internal backlog at warehouse WH-WEST-01.</a:t>
            </a:r>
          </a:p>
          <a:p>
            <a:pPr>
              <a:spcBef>
                <a:spcPts val="2000"/>
              </a:spcBef>
              <a:defRPr sz="1400" b="1">
                <a:solidFill>
                  <a:srgbClr val="0284C7"/>
                </a:solidFill>
              </a:defRPr>
            </a:pPr>
            <a:r>
              <a:t>30% Attribution Share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2: Macro Sentinel</a:t>
            </a:r>
          </a:p>
          <a:p>
            <a:pPr>
              <a:spcBef>
                <a:spcPts val="400"/>
              </a:spcBef>
              <a:defRPr sz="1200">
                <a:solidFill>
                  <a:srgbClr val="F59E0B"/>
                </a:solidFill>
              </a:defRPr>
            </a:pPr>
            <a:r>
              <a:t>External Live Market Feeds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Ingests maritime port congestion feeds (MACRO-PORT-01). Quantifies a 70% external macro shock from West Coast labor slowdowns.</a:t>
            </a:r>
          </a:p>
          <a:p>
            <a:pPr>
              <a:spcBef>
                <a:spcPts val="2000"/>
              </a:spcBef>
              <a:defRPr sz="1400" b="1">
                <a:solidFill>
                  <a:srgbClr val="F59E0B"/>
                </a:solidFill>
              </a:defRPr>
            </a:pPr>
            <a:r>
              <a:t>70% Attribution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3: Prescriptive Action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ROI &amp; Trajectory Simulator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Blends Model 1 &amp; 2 attributions, factors in dynamic executive constraints, and simulates 30/60/90-day recovery trajectories.</a:t>
            </a:r>
          </a:p>
          <a:p>
            <a:pPr>
              <a:spcBef>
                <a:spcPts val="2000"/>
              </a:spcBef>
              <a:defRPr sz="1400" b="1">
                <a:solidFill>
                  <a:srgbClr val="10B981"/>
                </a:solidFill>
              </a:defRPr>
            </a:pPr>
            <a:r>
              <a:t>4.2x Projected ROI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3-Model Cognitive AI Synthesis Triad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1: Diagnostic Engine</a:t>
            </a:r>
          </a:p>
          <a:p>
            <a:pPr>
              <a:spcBef>
                <a:spcPts val="400"/>
              </a:spcBef>
              <a:defRPr sz="1200">
                <a:solidFill>
                  <a:srgbClr val="0284C7"/>
                </a:solidFill>
              </a:defRPr>
            </a:pPr>
            <a:r>
              <a:t>Internal Operational Causes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Analyzes internal ERP staging queues and Jira tickets (JIRA-4819). Isolates a 30% internal backlog at warehouse WH-WEST-01.</a:t>
            </a:r>
          </a:p>
          <a:p>
            <a:pPr>
              <a:spcBef>
                <a:spcPts val="2000"/>
              </a:spcBef>
              <a:defRPr sz="1400" b="1">
                <a:solidFill>
                  <a:srgbClr val="0284C7"/>
                </a:solidFill>
              </a:defRPr>
            </a:pPr>
            <a:r>
              <a:t>30% Attribution Share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2: Macro Sentinel</a:t>
            </a:r>
          </a:p>
          <a:p>
            <a:pPr>
              <a:spcBef>
                <a:spcPts val="400"/>
              </a:spcBef>
              <a:defRPr sz="1200">
                <a:solidFill>
                  <a:srgbClr val="F59E0B"/>
                </a:solidFill>
              </a:defRPr>
            </a:pPr>
            <a:r>
              <a:t>External Live Market Feeds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Ingests maritime port congestion feeds (MACRO-PORT-01). Quantifies a 70% external macro shock from West Coast labor slowdowns.</a:t>
            </a:r>
          </a:p>
          <a:p>
            <a:pPr>
              <a:spcBef>
                <a:spcPts val="2000"/>
              </a:spcBef>
              <a:defRPr sz="1400" b="1">
                <a:solidFill>
                  <a:srgbClr val="F59E0B"/>
                </a:solidFill>
              </a:defRPr>
            </a:pPr>
            <a:r>
              <a:t>70% Attribution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Model 3: Prescriptive Action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ROI &amp; Trajectory Simulator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Blends Model 1 &amp; 2 attributions, factors in dynamic executive constraints, and simulates 30/60/90-day recovery trajectories.</a:t>
            </a:r>
          </a:p>
          <a:p>
            <a:pPr>
              <a:spcBef>
                <a:spcPts val="2000"/>
              </a:spcBef>
              <a:defRPr sz="1400" b="1">
                <a:solidFill>
                  <a:srgbClr val="10B981"/>
                </a:solidFill>
              </a:defRPr>
            </a:pPr>
            <a:r>
              <a:t>4.2x Projected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Safety: Explicit Abstention &amp; Canary Tests (Scenario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When &amp; Why We Abstain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The Capital Allocation Hazard: </a:t>
            </a:r>
            <a:r>
              <a:rPr sz="1200">
                <a:solidFill>
                  <a:srgbClr val="94A3B8"/>
                </a:solidFill>
              </a:rPr>
              <a:t>Under ambiguous signals, forcing a single generative LLM prediction risks misallocating hundreds of thousands in capital.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Mathematical Abstention Gate: </a:t>
            </a:r>
            <a:r>
              <a:rPr sz="1200">
                <a:solidFill>
                  <a:srgbClr val="94A3B8"/>
                </a:solidFill>
              </a:rPr>
              <a:t>Triggered automatically when the confidence margin between competing root causes is $&lt;25\%$ (observed: $16\%$ delta).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Dual Competing Hypotheses: </a:t>
            </a:r>
            <a:r>
              <a:rPr sz="1200">
                <a:solidFill>
                  <a:srgbClr val="94A3B8"/>
                </a:solidFill>
              </a:rPr>
              <a:t>• Hypothesis 1 (60%): Payment Gateway 504 Timeout on iOS Checkout.
• Hypothesis 2 (40%): Competitor Viral TikTok Flash Sale.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Prescribed Low-Cost Discovery Tests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38BDF8"/>
                </a:solidFill>
              </a:rPr>
              <a:t>CANARY TEST 1: Synthetic iOS Checkout Probe
</a:t>
            </a:r>
            <a:r>
              <a:rPr sz="1200">
                <a:solidFill>
                  <a:srgbClr val="94A3B8"/>
                </a:solidFill>
              </a:rPr>
              <a:t>Simulate 500 programmatic checkout requests through iOS gateway corridor.
Cost: $150  |  Duration: 2.0 hours  |  Decision Gate: Timeout Rate &gt; 5%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38BDF8"/>
                </a:solidFill>
              </a:rPr>
              <a:t>CANARY TEST 2: Competitive Ad &amp; Social Scraping Run
</a:t>
            </a:r>
            <a:r>
              <a:rPr sz="1200">
                <a:solidFill>
                  <a:srgbClr val="94A3B8"/>
                </a:solidFill>
              </a:rPr>
              <a:t>Ingest competitor TikTok and Instagram ad feeds across ASEAN.
Cost: $300  |  Duration: 4.0 hours  |  Decision Gate: Competitor Share of Voice Spike &gt; 25%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Persona Prescriptive Storytelling &amp; RBAC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Executive / VP Persona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Tailored Decision Lens: </a:t>
            </a:r>
            <a:r>
              <a:rPr sz="1200">
                <a:solidFill>
                  <a:srgbClr val="94A3B8"/>
                </a:solidFill>
              </a:rPr>
              <a:t>High-level strategic trade-offs, financial risk exposure, capital ROI, and supply chain corridor reallocation.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Prescribed Interventions: </a:t>
            </a:r>
            <a:r>
              <a:rPr sz="1200">
                <a:solidFill>
                  <a:srgbClr val="94A3B8"/>
                </a:solidFill>
              </a:rPr>
              <a:t>• Authorize 35% maritime freight reroute to Seattle port corridors.
• Authorize $45,000 expedited drayage budget to clear high-margin inventory.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Unmasked Financial Data: </a:t>
            </a:r>
            <a:r>
              <a:rPr sz="1200">
                <a:solidFill>
                  <a:srgbClr val="94A3B8"/>
                </a:solidFill>
              </a:rPr>
              <a:t>Full numeric transparency over unit COGS, gross margin amounts, and margin percentages.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Operations / Category Manager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Tailored Decision Lens: </a:t>
            </a:r>
            <a:r>
              <a:rPr sz="1200">
                <a:solidFill>
                  <a:srgbClr val="94A3B8"/>
                </a:solidFill>
              </a:rPr>
              <a:t>Tactical SOPs, warehouse triage playbooks, system container codes, and ticket resolution.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Prescribed Interventions: </a:t>
            </a:r>
            <a:r>
              <a:rPr sz="1200">
                <a:solidFill>
                  <a:srgbClr val="94A3B8"/>
                </a:solidFill>
              </a:rPr>
              <a:t>• Execute automated inventory reallocation for SKU-ELEC-409.
• Triage Jira incident JIRA-4819 at Long Beach Berth 4.
• Trigger customer delivery ETA updates to enterprise accounts.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Enforced RBAC Masking: </a:t>
            </a:r>
            <a:r>
              <a:rPr sz="1200">
                <a:solidFill>
                  <a:srgbClr val="94A3B8"/>
                </a:solidFill>
              </a:rPr>
              <a:t>Unit COGS and Gross Margins are strictly redacted with [RESTRICTED-EXEC].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Human-in-the-Loop Feedback &amp; Telemetry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Continuous Learning Loop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Governed Human Corrections: </a:t>
            </a:r>
            <a:r>
              <a:rPr sz="1200">
                <a:solidFill>
                  <a:srgbClr val="94A3B8"/>
                </a:solidFill>
              </a:rPr>
              <a:t>Analysts submit star ratings, categorical tags, and operational driver corrections.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Cognitive Interpretation: </a:t>
            </a:r>
            <a:r>
              <a:rPr sz="1200">
                <a:solidFill>
                  <a:srgbClr val="94A3B8"/>
                </a:solidFill>
              </a:rPr>
              <a:t>AI classifies feedback type, identifies target layer, and generates learning signals.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Bayesian Calibration Weights: </a:t>
            </a:r>
            <a:r>
              <a:rPr sz="1200">
                <a:solidFill>
                  <a:srgbClr val="94A3B8"/>
                </a:solidFill>
              </a:rPr>
              <a:t>Updates operational driver ranking weights over time.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Quantitative Lock Principle: </a:t>
            </a:r>
            <a:r>
              <a:rPr sz="1200">
                <a:solidFill>
                  <a:srgbClr val="94A3B8"/>
                </a:solidFill>
              </a:rPr>
              <a:t>Closed-form formulas, variance math, and SPC thresholds remain strictly immutable.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Runtime Telemetry &amp; Cost Accounting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Total Pipeline Latency: </a:t>
            </a:r>
            <a:r>
              <a:rPr sz="1200">
                <a:solidFill>
                  <a:srgbClr val="94A3B8"/>
                </a:solidFill>
              </a:rPr>
              <a:t>&lt; 2,000 ms (Ingest 1.5ms | SPC &amp; Tree Math 4.2ms | AI Synthesis 1,600ms).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Deterministic Math Tokens: </a:t>
            </a:r>
            <a:r>
              <a:rPr sz="1200">
                <a:solidFill>
                  <a:srgbClr val="94A3B8"/>
                </a:solidFill>
              </a:rPr>
              <a:t>0 Tokens consumed (100% Non-LLM Closed-Form Python/NumPy).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AI Narrative Tokens: </a:t>
            </a:r>
            <a:r>
              <a:rPr sz="1200">
                <a:solidFill>
                  <a:srgbClr val="94A3B8"/>
                </a:solidFill>
              </a:rPr>
              <a:t>630 Tokens (450 prompt + 180 completion tokens).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Cost Transparency: </a:t>
            </a:r>
            <a:r>
              <a:rPr sz="1200">
                <a:solidFill>
                  <a:srgbClr val="94A3B8"/>
                </a:solidFill>
              </a:rPr>
              <a:t>$0.001035 estimated cost per execution (with $0.00 offline fallback).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Complete 4-Scenario Validation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1: Multi-Factor Disruption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Compound Drivers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70% External West Coast port strike + 30% local warehouse backlog. 4.2x projected ROI recovery.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2: Low-Confidence Ambiguity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Explicit Abstention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Conflicting evidence (60% vs 40%). Engine abstains and prescribes $150 canary validation experiments.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3: Sparse History / Launch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Cold Start Prior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New SKU launch with N=7 days history. Blends Bayesian category benchmark ($5,000 base) and staged pilots.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Scenario 4: Role-Based Security</a:t>
            </a:r>
          </a:p>
          <a:p>
            <a:pPr>
              <a:spcBef>
                <a:spcPts val="200"/>
              </a:spcBef>
              <a:defRPr sz="1200" b="1">
                <a:solidFill>
                  <a:srgbClr val="10B981"/>
                </a:solidFill>
              </a:defRPr>
            </a:pPr>
            <a:r>
              <a:t>RBAC Entitlements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Enforces column/row masking on unit COGS and margins for Analysts while showing system IDs.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solidFill>
              <a:srgbClr val="09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BUSINESSINTELLIGENCE.AI ·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Summary: Production-Grade KPI Intelligence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Architectural Differentiators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1. Mathematical Rigor First: </a:t>
            </a:r>
            <a:r>
              <a:rPr sz="1400">
                <a:solidFill>
                  <a:srgbClr val="94A3B8"/>
                </a:solidFill>
              </a:rPr>
              <a:t>Zero reliance on LLM calculation. SPC anomaly detection and Shapley causal attribution are 100% deterministic with $0.00 residual.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2. Multi-Model Context Synthesis: </a:t>
            </a:r>
            <a:r>
              <a:rPr sz="1400">
                <a:solidFill>
                  <a:srgbClr val="94A3B8"/>
                </a:solidFill>
              </a:rPr>
              <a:t>Combines private ERP/Jira operational context with live macro market shocks into actionable, persona-tailored playbooks.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3. Enterprise Guardrails: </a:t>
            </a:r>
            <a:r>
              <a:rPr sz="1400">
                <a:solidFill>
                  <a:srgbClr val="94A3B8"/>
                </a:solidFill>
              </a:rPr>
              <a:t>Explicit abstention under ambiguity, dynamic RBAC masking, and governed human feedback calibration.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38BDF8"/>
                </a:solidFill>
              </a:rPr>
              <a:t>4. Verified &amp; Ready: </a:t>
            </a:r>
            <a:r>
              <a:rPr sz="1400">
                <a:solidFill>
                  <a:srgbClr val="94A3B8"/>
                </a:solidFill>
              </a:rPr>
              <a:t>93 / 93 automated tests passed. 8 / 8 scenario-persona combinations validated. Deployed live on Streamlit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747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Wingdings</vt:lpstr>
      <vt:lpstr>Accenture 2025</vt:lpstr>
      <vt:lpstr>Titles</vt:lpstr>
      <vt:lpstr>1_Office Theme</vt:lpstr>
      <vt:lpstr>1_Accenture 2025</vt:lpstr>
      <vt:lpstr>PowerPoint Presentation</vt:lpstr>
      <vt:lpstr>Team details</vt:lpstr>
      <vt:lpstr>Describe the problem statement (200 words)</vt:lpstr>
      <vt:lpstr>Proposed solution (200 words)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the last</cp:lastModifiedBy>
  <cp:revision>7</cp:revision>
  <dcterms:created xsi:type="dcterms:W3CDTF">2026-07-24T04:09:52Z</dcterms:created>
  <dcterms:modified xsi:type="dcterms:W3CDTF">2026-08-16T11:40:30Z</dcterms:modified>
</cp:coreProperties>
</file>