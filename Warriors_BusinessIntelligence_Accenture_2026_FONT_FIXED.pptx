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2.svg" ContentType="image/svg+xml"/>
  <Override PartName="/ppt/media/image1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4" r:id="rId2"/>
    <p:sldMasterId id="2147483699" r:id="rId3"/>
    <p:sldMasterId id="2147483713" r:id="rId4"/>
  </p:sldMasterIdLst>
  <p:notesMasterIdLst>
    <p:notesMasterId r:id="rId11"/>
  </p:notesMasterIdLst>
  <p:sldIdLst>
    <p:sldId id="820" r:id="rId5"/>
    <p:sldId id="2857" r:id="rId6"/>
    <p:sldId id="1906872563" r:id="rId7"/>
    <p:sldId id="1906872569" r:id="rId8"/>
    <p:sldId id="1906872572" r:id="rId9"/>
    <p:sldId id="1906872573" r:id="rId18"/>
    <p:sldId id="1906872574" r:id="rId19"/>
    <p:sldId id="1906872575" r:id="rId20"/>
    <p:sldId id="19068725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75E361-6728-4564-925F-CDEB010D9221}" v="1" dt="2026-08-12T11:52:41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4" d="100"/>
          <a:sy n="84" d="100"/>
        </p:scale>
        <p:origin x="61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pta, Sumit" userId="1897bf9b-0dd3-4194-b659-65bd26db6033" providerId="ADAL" clId="{5772E9CC-A2D7-4A18-9F3D-98CD1ADE6210}"/>
    <pc:docChg chg="undo custSel addSld delSld modSld modMainMaster">
      <pc:chgData name="Gupta, Sumit" userId="1897bf9b-0dd3-4194-b659-65bd26db6033" providerId="ADAL" clId="{5772E9CC-A2D7-4A18-9F3D-98CD1ADE6210}" dt="2026-08-12T11:52:43.731" v="19" actId="47"/>
      <pc:docMkLst>
        <pc:docMk/>
      </pc:docMkLst>
      <pc:sldChg chg="add">
        <pc:chgData name="Gupta, Sumit" userId="1897bf9b-0dd3-4194-b659-65bd26db6033" providerId="ADAL" clId="{5772E9CC-A2D7-4A18-9F3D-98CD1ADE6210}" dt="2026-08-12T11:52:41.597" v="18"/>
        <pc:sldMkLst>
          <pc:docMk/>
          <pc:sldMk cId="4229161518" sldId="820"/>
        </pc:sldMkLst>
      </pc:sldChg>
      <pc:sldChg chg="del">
        <pc:chgData name="Gupta, Sumit" userId="1897bf9b-0dd3-4194-b659-65bd26db6033" providerId="ADAL" clId="{5772E9CC-A2D7-4A18-9F3D-98CD1ADE6210}" dt="2026-08-12T11:52:43.731" v="19" actId="47"/>
        <pc:sldMkLst>
          <pc:docMk/>
          <pc:sldMk cId="1508494297" sldId="945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959471642" sldId="2857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80955698" sldId="2870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969716135" sldId="1906872563"/>
        </pc:sldMkLst>
      </pc:sldChg>
      <pc:sldChg chg="delSp modSp add mod">
        <pc:chgData name="Gupta, Sumit" userId="1897bf9b-0dd3-4194-b659-65bd26db6033" providerId="ADAL" clId="{5772E9CC-A2D7-4A18-9F3D-98CD1ADE6210}" dt="2026-07-24T04:48:25.970" v="2" actId="20577"/>
        <pc:sldMkLst>
          <pc:docMk/>
          <pc:sldMk cId="2205980423" sldId="1906872569"/>
        </pc:sldMkLst>
        <pc:spChg chg="mod">
          <ac:chgData name="Gupta, Sumit" userId="1897bf9b-0dd3-4194-b659-65bd26db6033" providerId="ADAL" clId="{5772E9CC-A2D7-4A18-9F3D-98CD1ADE6210}" dt="2026-07-24T04:48:25.970" v="2" actId="20577"/>
          <ac:spMkLst>
            <pc:docMk/>
            <pc:sldMk cId="2205980423" sldId="1906872569"/>
            <ac:spMk id="4" creationId="{00000000-0000-0000-0000-000000000000}"/>
          </ac:spMkLst>
        </pc:spChg>
      </pc:sldChg>
      <pc:sldChg chg="modSp add mod">
        <pc:chgData name="Gupta, Sumit" userId="1897bf9b-0dd3-4194-b659-65bd26db6033" providerId="ADAL" clId="{5772E9CC-A2D7-4A18-9F3D-98CD1ADE6210}" dt="2026-07-24T04:48:43.369" v="7" actId="20577"/>
        <pc:sldMkLst>
          <pc:docMk/>
          <pc:sldMk cId="3845603560" sldId="1906872570"/>
        </pc:sldMkLst>
        <pc:spChg chg="mod">
          <ac:chgData name="Gupta, Sumit" userId="1897bf9b-0dd3-4194-b659-65bd26db6033" providerId="ADAL" clId="{5772E9CC-A2D7-4A18-9F3D-98CD1ADE6210}" dt="2026-07-24T04:48:43.369" v="7" actId="20577"/>
          <ac:spMkLst>
            <pc:docMk/>
            <pc:sldMk cId="3845603560" sldId="1906872570"/>
            <ac:spMk id="4" creationId="{00000000-0000-0000-0000-000000000000}"/>
          </ac:spMkLst>
        </pc:spChg>
      </pc:sldChg>
      <pc:sldMasterChg chg="delSldLayout modSldLayout">
        <pc:chgData name="Gupta, Sumit" userId="1897bf9b-0dd3-4194-b659-65bd26db6033" providerId="ADAL" clId="{5772E9CC-A2D7-4A18-9F3D-98CD1ADE6210}" dt="2026-07-24T04:49:43.724" v="17"/>
        <pc:sldMasterMkLst>
          <pc:docMk/>
          <pc:sldMasterMk cId="3154538439" sldId="2147483660"/>
        </pc:sldMasterMkLst>
        <pc:sldLayoutChg chg="modSp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2368417819" sldId="2147483662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2368417819" sldId="2147483662"/>
              <ac:spMk id="3" creationId="{1BFF566D-EEFC-0454-54B0-66CBAB8DA700}"/>
            </ac:spMkLst>
          </pc:spChg>
        </pc:sldLayoutChg>
        <pc:sldLayoutChg chg="addSp delSp modSp mod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726607555" sldId="2147483673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726607555" sldId="2147483673"/>
              <ac:spMk id="2" creationId="{8F090878-FDCB-E32E-7E4D-4A1D113FA508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04694-B363-4D2F-9288-55810FEE4433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F16013-F085-4538-9539-111F70D1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5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681651-9904-804F-8355-78350773C1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pPr marL="0" marR="0" lvl="0" indent="0" algn="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" panose="020B05030302020602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12634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emf"/><Relationship Id="rId4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sv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AC43ACC0-AD60-BDF4-2F68-94D9A9F04C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605" y="757711"/>
            <a:ext cx="1243822" cy="35308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01" y="3010442"/>
            <a:ext cx="6793920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0622" y="4464059"/>
            <a:ext cx="6793920" cy="109284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92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1528" y="6124064"/>
            <a:ext cx="1832894" cy="1969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731500" rtl="0" eaLnBrk="1" latinLnBrk="0" hangingPunct="1">
              <a:spcAft>
                <a:spcPts val="0"/>
              </a:spcAft>
              <a:buNone/>
              <a:defRPr lang="en-US" sz="128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398002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7" y="3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29" bIns="97529" rtlCol="0" anchor="ctr"/>
          <a:lstStyle/>
          <a:p>
            <a:pPr algn="ctr"/>
            <a:endParaRPr lang="en-US" sz="1919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455" y="572600"/>
            <a:ext cx="6757704" cy="433324"/>
          </a:xfrm>
        </p:spPr>
        <p:txBody>
          <a:bodyPr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9" y="2209172"/>
            <a:ext cx="6757703" cy="734934"/>
          </a:xfrm>
          <a:prstGeom prst="rect">
            <a:avLst/>
          </a:prstGeom>
        </p:spPr>
        <p:txBody>
          <a:bodyPr/>
          <a:lstStyle>
            <a:lvl1pPr>
              <a:defRPr lang="en-US" sz="144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9" y="1403018"/>
            <a:ext cx="6757703" cy="465875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920" b="0" i="0">
                <a:solidFill>
                  <a:schemeClr val="bg2"/>
                </a:solidFill>
                <a:latin typeface="+mn-lt"/>
              </a:defRPr>
            </a:lvl1pPr>
            <a:lvl2pPr marL="365752" indent="0">
              <a:buNone/>
              <a:defRPr sz="1600" b="1"/>
            </a:lvl2pPr>
            <a:lvl3pPr marL="731500" indent="0">
              <a:buNone/>
              <a:defRPr sz="1440" b="1"/>
            </a:lvl3pPr>
            <a:lvl4pPr marL="1097249" indent="0">
              <a:buNone/>
              <a:defRPr sz="1280" b="1"/>
            </a:lvl4pPr>
            <a:lvl5pPr marL="1462999" indent="0">
              <a:buNone/>
              <a:defRPr sz="1280" b="1"/>
            </a:lvl5pPr>
            <a:lvl6pPr marL="1828749" indent="0">
              <a:buNone/>
              <a:defRPr sz="1280" b="1"/>
            </a:lvl6pPr>
            <a:lvl7pPr marL="2194498" indent="0">
              <a:buNone/>
              <a:defRPr sz="1280" b="1"/>
            </a:lvl7pPr>
            <a:lvl8pPr marL="2560249" indent="0">
              <a:buNone/>
              <a:defRPr sz="1280" b="1"/>
            </a:lvl8pPr>
            <a:lvl9pPr marL="2925999" indent="0">
              <a:buNone/>
              <a:defRPr sz="128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495177" y="6442170"/>
            <a:ext cx="1934825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r>
              <a:rPr lang="en-US" sz="640" dirty="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081" noProof="0" dirty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714824" y="6442170"/>
            <a:ext cx="96180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64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1828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96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8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68417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7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mplex 1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13879"/>
            <a:ext cx="12203108" cy="685799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652" y="2335980"/>
            <a:ext cx="4850670" cy="239334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576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656" y="4880705"/>
            <a:ext cx="4850672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73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mplex 1 - Ligh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0"/>
            <a:ext cx="6074968" cy="687187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5567" y="3750135"/>
            <a:ext cx="3872092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95566" y="5092433"/>
            <a:ext cx="3872100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AC0B31-54E2-8C2A-B25C-0569D02C30D8}"/>
              </a:ext>
            </a:extLst>
          </p:cNvPr>
          <p:cNvCxnSpPr>
            <a:cxnSpLocks/>
          </p:cNvCxnSpPr>
          <p:nvPr userDrawn="1"/>
        </p:nvCxnSpPr>
        <p:spPr>
          <a:xfrm flipV="1">
            <a:off x="12030688" y="3"/>
            <a:ext cx="0" cy="686569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10493837" y="4"/>
            <a:ext cx="1698166" cy="687119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005750" y="5422430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735309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mplex 1 - Ligh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9927452" y="2976340"/>
            <a:ext cx="2264549" cy="389485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2976341"/>
            <a:ext cx="6772251" cy="389485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419750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11686" y="3954223"/>
            <a:ext cx="2264549" cy="2305712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4" name="Graphic 17">
            <a:extLst>
              <a:ext uri="{FF2B5EF4-FFF2-40B4-BE49-F238E27FC236}">
                <a16:creationId xmlns:a16="http://schemas.microsoft.com/office/drawing/2014/main" id="{004BC2F2-E3DC-5CB3-0900-931F6D847B7E}"/>
              </a:ext>
            </a:extLst>
          </p:cNvPr>
          <p:cNvSpPr/>
          <p:nvPr userDrawn="1"/>
        </p:nvSpPr>
        <p:spPr>
          <a:xfrm>
            <a:off x="10787697" y="4602862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2099914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754"/>
            <a:ext cx="6235504" cy="6858000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358CE2-3010-CD39-B174-C1F97F9202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5506" y="3"/>
            <a:ext cx="4439498" cy="6858000"/>
          </a:xfrm>
          <a:prstGeom prst="rect">
            <a:avLst/>
          </a:prstGeom>
        </p:spPr>
      </p:pic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156826" y="5684823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7817" y="3733230"/>
            <a:ext cx="3919968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07817" y="5065162"/>
            <a:ext cx="3919968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08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2A9A34-82D5-6262-D129-D306B6F55F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40031" y="2976069"/>
            <a:ext cx="3298274" cy="38896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75C44C-8B0B-A1AE-ABDF-0F7C1DE844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1543" y="-4090"/>
            <a:ext cx="6782996" cy="2980159"/>
          </a:xfrm>
          <a:prstGeom prst="rect">
            <a:avLst/>
          </a:prstGeom>
        </p:spPr>
      </p:pic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976340"/>
            <a:ext cx="6761155" cy="388935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1156" y="-4090"/>
            <a:ext cx="5430845" cy="29804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1431359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764AF4-DC76-040F-7F3B-393C800CFFE6}"/>
              </a:ext>
            </a:extLst>
          </p:cNvPr>
          <p:cNvSpPr/>
          <p:nvPr userDrawn="1"/>
        </p:nvSpPr>
        <p:spPr>
          <a:xfrm>
            <a:off x="6730950" y="2976067"/>
            <a:ext cx="3207355" cy="3881932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813D5C-B200-03E1-0309-707A457AA933}"/>
              </a:ext>
            </a:extLst>
          </p:cNvPr>
          <p:cNvSpPr/>
          <p:nvPr userDrawn="1"/>
        </p:nvSpPr>
        <p:spPr>
          <a:xfrm>
            <a:off x="0" y="1"/>
            <a:ext cx="6771453" cy="2974598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034" y="2976341"/>
            <a:ext cx="6740122" cy="387553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398719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54F08984-5A5F-2074-4481-4456FF8131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07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351" noProof="0" dirty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26607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6F1F-FA65-4EEB-BDF1-3ABAA12E2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9222" y="240215"/>
            <a:ext cx="10515600" cy="306635"/>
          </a:xfrm>
        </p:spPr>
        <p:txBody>
          <a:bodyPr lIns="0" tIns="0" rIns="0" bIns="0" anchor="t">
            <a:normAutofit/>
          </a:bodyPr>
          <a:lstStyle>
            <a:lvl1pPr>
              <a:defRPr sz="2400">
                <a:solidFill>
                  <a:srgbClr val="33CC33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18A67-9B80-412E-9A41-C4F91B5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647" y="6356350"/>
            <a:ext cx="2743200" cy="365125"/>
          </a:xfrm>
        </p:spPr>
        <p:txBody>
          <a:bodyPr/>
          <a:lstStyle/>
          <a:p>
            <a:fld id="{63FC6494-8DB7-494F-83AE-7187FC8A427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5E9138-10C8-4D5C-96AF-BA283019769A}"/>
              </a:ext>
            </a:extLst>
          </p:cNvPr>
          <p:cNvSpPr txBox="1"/>
          <p:nvPr userDrawn="1"/>
        </p:nvSpPr>
        <p:spPr>
          <a:xfrm>
            <a:off x="3470816" y="6629400"/>
            <a:ext cx="5250368" cy="22859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lvl="0" algn="ctr">
              <a:defRPr/>
            </a:pPr>
            <a:r>
              <a:rPr lang="en-US" sz="800" kern="0" dirty="0">
                <a:solidFill>
                  <a:srgbClr val="000000">
                    <a:lumMod val="65000"/>
                    <a:lumOff val="35000"/>
                  </a:srgbClr>
                </a:solidFill>
                <a:latin typeface="Graphik" panose="020B0503030202060203" pitchFamily="34" charset="0"/>
                <a:cs typeface="Arial" panose="020B0604020202020204" pitchFamily="34" charset="0"/>
              </a:rPr>
              <a:t>Copyright 2022 Accenture. All rights reserved. Accenture Confidential Information. Internal Use Only</a:t>
            </a:r>
            <a:endParaRPr kumimoji="0" lang="en-US" sz="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4CDE97-5B21-4B58-93AF-0B6CCB281B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9075" y="600260"/>
            <a:ext cx="10515600" cy="422275"/>
          </a:xfrm>
        </p:spPr>
        <p:txBody>
          <a:bodyPr vert="horz" lIns="0" tIns="0" rIns="0" bIns="0" rtlCol="0" anchor="t">
            <a:normAutofit/>
          </a:bodyPr>
          <a:lstStyle>
            <a:lvl1pPr>
              <a:defRPr lang="en-US" sz="1600" dirty="0" smtClean="0">
                <a:solidFill>
                  <a:srgbClr val="0070C0"/>
                </a:solidFill>
                <a:latin typeface="Graphik Black" panose="020B0A03030202060203" pitchFamily="34" charset="0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164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ybook/Le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9DB20E-402F-4429-B44A-BCDD110E2DF6}"/>
              </a:ext>
            </a:extLst>
          </p:cNvPr>
          <p:cNvGrpSpPr/>
          <p:nvPr userDrawn="1"/>
        </p:nvGrpSpPr>
        <p:grpSpPr>
          <a:xfrm>
            <a:off x="1" y="-4488"/>
            <a:ext cx="12191065" cy="6862488"/>
            <a:chOff x="0" y="-3366"/>
            <a:chExt cx="9143299" cy="514686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C6B6D226-A844-B141-A337-85FFBCFDE485}"/>
                </a:ext>
              </a:extLst>
            </p:cNvPr>
            <p:cNvSpPr/>
            <p:nvPr userDrawn="1"/>
          </p:nvSpPr>
          <p:spPr>
            <a:xfrm>
              <a:off x="0" y="-3366"/>
              <a:ext cx="9143299" cy="5146866"/>
            </a:xfrm>
            <a:prstGeom prst="rect">
              <a:avLst/>
            </a:prstGeom>
            <a:solidFill>
              <a:srgbClr val="F5F7F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5E5E5E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D989BA39-7EC6-294F-AF53-B7142E5CDB12}"/>
                </a:ext>
              </a:extLst>
            </p:cNvPr>
            <p:cNvSpPr/>
            <p:nvPr userDrawn="1"/>
          </p:nvSpPr>
          <p:spPr>
            <a:xfrm>
              <a:off x="189491" y="197168"/>
              <a:ext cx="8794630" cy="4593579"/>
            </a:xfrm>
            <a:prstGeom prst="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</p:grpSp>
      <p:sp>
        <p:nvSpPr>
          <p:cNvPr id="6" name="Copyright Ⓒ 2018 Accenture  All rights reserved">
            <a:extLst>
              <a:ext uri="{FF2B5EF4-FFF2-40B4-BE49-F238E27FC236}">
                <a16:creationId xmlns:a16="http://schemas.microsoft.com/office/drawing/2014/main" id="{8CACBDDE-75CD-C644-9B17-36349A723C74}"/>
              </a:ext>
            </a:extLst>
          </p:cNvPr>
          <p:cNvSpPr txBox="1"/>
          <p:nvPr/>
        </p:nvSpPr>
        <p:spPr>
          <a:xfrm>
            <a:off x="5688980" y="6565842"/>
            <a:ext cx="2324354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numCol="1" anchor="t">
            <a:spAutoFit/>
          </a:bodyPr>
          <a:lstStyle>
            <a:lvl1pPr algn="l" defTabSz="1828800">
              <a:defRPr sz="1600" b="0">
                <a:solidFill>
                  <a:srgbClr val="5E5E5E"/>
                </a:solidFill>
                <a:latin typeface="Graphik Medium"/>
                <a:ea typeface="Graphik Medium"/>
                <a:cs typeface="Graphik Medium"/>
                <a:sym typeface="Graphik Medium"/>
              </a:defRPr>
            </a:lvl1pPr>
          </a:lstStyle>
          <a:p>
            <a:r>
              <a:rPr lang="en-US" sz="800" noProof="0" dirty="0"/>
              <a:t>Copyright Ⓒ 2022 Accenture  All rights reserved</a:t>
            </a:r>
          </a:p>
        </p:txBody>
      </p:sp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C198B9B7-3351-804E-9791-0F86BB11B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3757" y="515602"/>
            <a:ext cx="5880705" cy="1828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kumimoji="0" lang="en-US" sz="1051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Medium"/>
                <a:ea typeface="Graphik Medium"/>
                <a:cs typeface="Graphik Medium"/>
                <a:sym typeface="Helvetica Neue"/>
              </a:defRPr>
            </a:lvl1pPr>
          </a:lstStyle>
          <a:p>
            <a:endParaRPr lang="en-US" noProof="0"/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8B591B01-1140-A446-97B6-CB7450ED42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3758" y="726500"/>
            <a:ext cx="11058137" cy="1201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kumimoji="0" lang="en-US" sz="3200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Extralight"/>
                <a:ea typeface="Graphik Extralight"/>
                <a:cs typeface="Graphik Extralight"/>
                <a:sym typeface="Helvetica Neue"/>
              </a:defRPr>
            </a:lvl1pPr>
          </a:lstStyle>
          <a:p>
            <a:endParaRPr lang="en-US" noProof="0" dirty="0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74F9075F-C7D3-C945-95B7-DC8B159B600D}"/>
              </a:ext>
            </a:extLst>
          </p:cNvPr>
          <p:cNvSpPr txBox="1"/>
          <p:nvPr userDrawn="1"/>
        </p:nvSpPr>
        <p:spPr>
          <a:xfrm>
            <a:off x="11641895" y="6555881"/>
            <a:ext cx="411480" cy="1744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62C197D3-294B-0846-B7D0-AC071D2CBE2F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Graphik" panose="020B0503030202060203" pitchFamily="34" charset="77"/>
                <a:ea typeface="Helvetica Neue Light"/>
                <a:cs typeface="Helvetica Neue"/>
                <a:sym typeface="Helvetica Neue"/>
              </a:rPr>
              <a:pPr marL="0" marR="0" indent="0" algn="ctr" defTabSz="41274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Graphik" panose="020B0503030202060203" pitchFamily="34" charset="77"/>
              <a:ea typeface="Helvetica Neue Light"/>
              <a:cs typeface="Helvetica Neue"/>
              <a:sym typeface="Helvetica Neue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1462AE7-3669-354B-9330-98F8761FD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6914" y="6465311"/>
            <a:ext cx="733863" cy="31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97332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033">
          <p15:clr>
            <a:srgbClr val="FBAE40"/>
          </p15:clr>
        </p15:guide>
        <p15:guide id="2" orient="horz" pos="2938">
          <p15:clr>
            <a:srgbClr val="FBAE40"/>
          </p15:clr>
        </p15:guide>
        <p15:guide id="3" pos="269">
          <p15:clr>
            <a:srgbClr val="FBAE40"/>
          </p15:clr>
        </p15:guide>
        <p15:guide id="4" pos="5499">
          <p15:clr>
            <a:srgbClr val="FBAE40"/>
          </p15:clr>
        </p15:guide>
        <p15:guide id="5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6477557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1AFBD-8268-6E4E-B726-58CFB1605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82312-3184-8349-A074-E375B37B5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512A5-A4BF-F04E-9728-A4BCE2E0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6AAA-2B22-9448-A19B-5118FC26E10B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1ACDA-90AD-DF4E-B1C9-3175F6A31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C3B2B-4BD8-8B4A-A487-317A7260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FC613-4EEB-CC4B-B0A4-9C18D7586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299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4694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48671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1903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22114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9233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4737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7462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3588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0285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1726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46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DA81FCAA-64D2-4A9C-B16E-9C4E3BB431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29748" y="3813288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03CDC117-35F2-47B2-85B2-29CB8EE7E0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748" y="4055931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Job Title to go here</a:t>
            </a:r>
            <a:endParaRPr lang="en-GB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00A15EA9-2372-4E06-83C2-1E13AB1FA62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19820" y="3578084"/>
            <a:ext cx="778554" cy="778959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20110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162796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448920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172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69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974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57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445680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7581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32383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208052121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8947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39088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76501052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2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4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38445449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133044225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02251960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560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760677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546719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4471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6365271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9766795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4958430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92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041270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3626589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6044672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9597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89592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5582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924508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033307"/>
            <a:ext cx="4489017" cy="398699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1123222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244185"/>
            <a:ext cx="4489017" cy="39769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912050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319135"/>
            <a:ext cx="4489017" cy="38270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22728420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838703"/>
            <a:ext cx="5098087" cy="78790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8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2145526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44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Graphik" panose="020B0503030202060203" pitchFamily="34" charset="77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Graphik" panose="020B0503030202060203" pitchFamily="34" charset="77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179796"/>
            <a:ext cx="7200000" cy="49840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</p:spTree>
    <p:extLst>
      <p:ext uri="{BB962C8B-B14F-4D97-AF65-F5344CB8AC3E}">
        <p14:creationId xmlns:p14="http://schemas.microsoft.com/office/powerpoint/2010/main" val="11438017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  <p15:guide id="2" pos="2880">
          <p15:clr>
            <a:srgbClr val="C35EA4"/>
          </p15:clr>
        </p15:guide>
        <p15:guide id="3" orient="horz" pos="2707">
          <p15:clr>
            <a:srgbClr val="C35EA4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037347"/>
            <a:ext cx="7200000" cy="2783304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2469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C386F6A9-4F1A-3944-E7D3-E26B3E55A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4D946-575C-A63A-1F36-F73012F28CC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341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122B155-BA05-874A-7587-FD87E46FA2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341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92543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530D0-8A8F-68C0-4E3A-39EE60F2A5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2543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8745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220583F-078A-E528-E802-2F888AD1F0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8745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947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54AA6FC-4B12-B058-1F73-83023D3E1D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4947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11492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E7585F8-AF83-86FE-9FDC-FCBB8F0FDC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11492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332419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1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2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03511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78182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team + column Content: team + column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67B8B3ED-3C30-8209-EC37-30BECCCAC6D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C7F0577-7039-34CE-9E81-1E1B5179E19A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389183D5-43A1-CED9-DE7A-152AD40F1DB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DC001A2-2BC9-E92E-1900-07D1D55C844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D6DEAA1-1809-9174-41B2-A167C7EF0B6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EEA45CAC-A034-EBF8-A42A-D240A01CA2B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94B252BC-9982-2E12-F243-0ED078DBC2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DC6F0EDA-C6BC-1437-B68C-8779352D0B2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29" name="Title 2">
            <a:extLst>
              <a:ext uri="{FF2B5EF4-FFF2-40B4-BE49-F238E27FC236}">
                <a16:creationId xmlns:a16="http://schemas.microsoft.com/office/drawing/2014/main" id="{B87DF950-8C59-5635-493B-47BF5B6B0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A515A847-B8F1-0835-FEF9-D0644A3666A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7" name="Picture Placeholder 8">
            <a:extLst>
              <a:ext uri="{FF2B5EF4-FFF2-40B4-BE49-F238E27FC236}">
                <a16:creationId xmlns:a16="http://schemas.microsoft.com/office/drawing/2014/main" id="{AFFDAEDA-7A67-EFF8-97FE-53895BDD7346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8" name="Picture Placeholder 10">
            <a:extLst>
              <a:ext uri="{FF2B5EF4-FFF2-40B4-BE49-F238E27FC236}">
                <a16:creationId xmlns:a16="http://schemas.microsoft.com/office/drawing/2014/main" id="{CDEC200D-4F91-75FF-B3FC-CC83B1D2B426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0C873EF1-166E-2DEB-DEA4-F4E92E72812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EE6421DF-C4CF-347F-3F9F-B7C15DD342D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3C744BB-1061-9BD7-2063-D4FC3BA87A0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FB23E977-71EF-1003-3CEF-A8A4D0D7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3B567A05-2B76-107C-E1AA-BD5AA1C1C53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</p:spTree>
    <p:extLst>
      <p:ext uri="{BB962C8B-B14F-4D97-AF65-F5344CB8AC3E}">
        <p14:creationId xmlns:p14="http://schemas.microsoft.com/office/powerpoint/2010/main" val="34563251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14855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Graphik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38254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1328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08589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6821285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71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1080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9">
            <a:extLst>
              <a:ext uri="{FF2B5EF4-FFF2-40B4-BE49-F238E27FC236}">
                <a16:creationId xmlns:a16="http://schemas.microsoft.com/office/drawing/2014/main" id="{DD3BC9E6-13A7-8817-A32A-4CC03E87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9475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0352A97-ED89-7C2F-0063-10DA374C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accent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2832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72060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69190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8953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9.xml"/><Relationship Id="rId4" Type="http://schemas.openxmlformats.org/officeDocument/2006/relationships/slideLayout" Target="../slideLayouts/slideLayout30.xml"/><Relationship Id="rId5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3.xml"/><Relationship Id="rId8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3.xml"/><Relationship Id="rId18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45.xml"/><Relationship Id="rId20" Type="http://schemas.openxmlformats.org/officeDocument/2006/relationships/slideLayout" Target="../slideLayouts/slideLayout46.xml"/><Relationship Id="rId21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8.xml"/><Relationship Id="rId23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50.xml"/><Relationship Id="rId25" Type="http://schemas.openxmlformats.org/officeDocument/2006/relationships/slideLayout" Target="../slideLayouts/slideLayout51.xml"/><Relationship Id="rId26" Type="http://schemas.openxmlformats.org/officeDocument/2006/relationships/slideLayout" Target="../slideLayouts/slideLayout52.xml"/><Relationship Id="rId27" Type="http://schemas.openxmlformats.org/officeDocument/2006/relationships/slideLayout" Target="../slideLayouts/slideLayout53.xml"/><Relationship Id="rId28" Type="http://schemas.openxmlformats.org/officeDocument/2006/relationships/slideLayout" Target="../slideLayouts/slideLayout54.xml"/><Relationship Id="rId29" Type="http://schemas.openxmlformats.org/officeDocument/2006/relationships/slideLayout" Target="../slideLayouts/slideLayout55.xml"/><Relationship Id="rId30" Type="http://schemas.openxmlformats.org/officeDocument/2006/relationships/slideLayout" Target="../slideLayouts/slideLayout56.xml"/><Relationship Id="rId31" Type="http://schemas.openxmlformats.org/officeDocument/2006/relationships/slideLayout" Target="../slideLayouts/slideLayout57.xml"/><Relationship Id="rId32" Type="http://schemas.openxmlformats.org/officeDocument/2006/relationships/slideLayout" Target="../slideLayouts/slideLayout58.xml"/><Relationship Id="rId33" Type="http://schemas.openxmlformats.org/officeDocument/2006/relationships/slideLayout" Target="../slideLayouts/slideLayout59.xml"/><Relationship Id="rId34" Type="http://schemas.openxmlformats.org/officeDocument/2006/relationships/slideLayout" Target="../slideLayouts/slideLayout60.xml"/><Relationship Id="rId35" Type="http://schemas.openxmlformats.org/officeDocument/2006/relationships/slideLayout" Target="../slideLayouts/slideLayout61.xml"/><Relationship Id="rId36" Type="http://schemas.openxmlformats.org/officeDocument/2006/relationships/slideLayout" Target="../slideLayouts/slideLayout62.xml"/><Relationship Id="rId37" Type="http://schemas.openxmlformats.org/officeDocument/2006/relationships/slideLayout" Target="../slideLayouts/slideLayout63.xml"/><Relationship Id="rId38" Type="http://schemas.openxmlformats.org/officeDocument/2006/relationships/slideLayout" Target="../slideLayouts/slideLayout64.xml"/><Relationship Id="rId39" Type="http://schemas.openxmlformats.org/officeDocument/2006/relationships/slideLayout" Target="../slideLayouts/slideLayout65.xml"/><Relationship Id="rId40" Type="http://schemas.openxmlformats.org/officeDocument/2006/relationships/slideLayout" Target="../slideLayouts/slideLayout66.xml"/><Relationship Id="rId41" Type="http://schemas.openxmlformats.org/officeDocument/2006/relationships/slideLayout" Target="../slideLayouts/slideLayout67.xml"/><Relationship Id="rId42" Type="http://schemas.openxmlformats.org/officeDocument/2006/relationships/slideLayout" Target="../slideLayouts/slideLayout68.xml"/><Relationship Id="rId43" Type="http://schemas.openxmlformats.org/officeDocument/2006/relationships/slideLayout" Target="../slideLayouts/slideLayout69.xml"/><Relationship Id="rId44" Type="http://schemas.openxmlformats.org/officeDocument/2006/relationships/slideLayout" Target="../slideLayouts/slideLayout70.xml"/><Relationship Id="rId45" Type="http://schemas.openxmlformats.org/officeDocument/2006/relationships/slideLayout" Target="../slideLayouts/slideLayout71.xml"/><Relationship Id="rId46" Type="http://schemas.openxmlformats.org/officeDocument/2006/relationships/slideLayout" Target="../slideLayouts/slideLayout72.xml"/><Relationship Id="rId47" Type="http://schemas.openxmlformats.org/officeDocument/2006/relationships/slideLayout" Target="../slideLayouts/slideLayout73.xml"/><Relationship Id="rId48" Type="http://schemas.openxmlformats.org/officeDocument/2006/relationships/slideLayout" Target="../slideLayouts/slideLayout74.xml"/><Relationship Id="rId49" Type="http://schemas.openxmlformats.org/officeDocument/2006/relationships/slideLayout" Target="../slideLayouts/slideLayout75.xml"/><Relationship Id="rId50" Type="http://schemas.openxmlformats.org/officeDocument/2006/relationships/slideLayout" Target="../slideLayouts/slideLayout76.xml"/><Relationship Id="rId51" Type="http://schemas.openxmlformats.org/officeDocument/2006/relationships/slideLayout" Target="../slideLayouts/slideLayout77.xml"/><Relationship Id="rId52" Type="http://schemas.openxmlformats.org/officeDocument/2006/relationships/slideLayout" Target="../slideLayouts/slideLayout78.xml"/><Relationship Id="rId53" Type="http://schemas.openxmlformats.org/officeDocument/2006/relationships/slideLayout" Target="../slideLayouts/slideLayout79.xml"/><Relationship Id="rId54" Type="http://schemas.openxmlformats.org/officeDocument/2006/relationships/slideLayout" Target="../slideLayouts/slideLayout80.xml"/><Relationship Id="rId55" Type="http://schemas.openxmlformats.org/officeDocument/2006/relationships/slideLayout" Target="../slideLayouts/slideLayout81.xml"/><Relationship Id="rId56" Type="http://schemas.openxmlformats.org/officeDocument/2006/relationships/slideLayout" Target="../slideLayouts/slideLayout82.xml"/><Relationship Id="rId57" Type="http://schemas.openxmlformats.org/officeDocument/2006/relationships/slideLayout" Target="../slideLayouts/slideLayout83.xml"/><Relationship Id="rId58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357864" cy="43332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1" y="1371602"/>
            <a:ext cx="11357864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</p:spTree>
    <p:extLst>
      <p:ext uri="{BB962C8B-B14F-4D97-AF65-F5344CB8AC3E}">
        <p14:creationId xmlns:p14="http://schemas.microsoft.com/office/powerpoint/2010/main" val="315453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3" r:id="rId9"/>
  </p:sldLayoutIdLst>
  <p:hf sldNum="0" hdr="0" ftr="0" dt="0"/>
  <p:txStyles>
    <p:titleStyle>
      <a:lvl1pPr algn="l" defTabSz="731500" rtl="0" eaLnBrk="1" latinLnBrk="0" hangingPunct="1">
        <a:lnSpc>
          <a:spcPct val="80000"/>
        </a:lnSpc>
        <a:spcBef>
          <a:spcPct val="0"/>
        </a:spcBef>
        <a:buNone/>
        <a:defRPr sz="352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2874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ClrTx/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365752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548626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4pPr>
      <a:lvl5pPr marL="731500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280" kern="1200">
          <a:solidFill>
            <a:schemeClr val="tx1"/>
          </a:solidFill>
          <a:latin typeface="+mn-lt"/>
          <a:ea typeface="+mn-ea"/>
          <a:cs typeface="+mn-cs"/>
        </a:defRPr>
      </a:lvl5pPr>
      <a:lvl6pPr marL="8891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Graphik" panose="020B0503030202060203" pitchFamily="34" charset="0"/>
        <a:buNone/>
        <a:tabLst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28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8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2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0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2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7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498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5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1">
          <p15:clr>
            <a:srgbClr val="5ACBF0"/>
          </p15:clr>
        </p15:guide>
        <p15:guide id="8" pos="435">
          <p15:clr>
            <a:srgbClr val="9FCC3B"/>
          </p15:clr>
        </p15:guide>
        <p15:guide id="9" pos="916">
          <p15:clr>
            <a:srgbClr val="C35EA4"/>
          </p15:clr>
        </p15:guide>
        <p15:guide id="10" pos="9392">
          <p15:clr>
            <a:srgbClr val="5ACBF0"/>
          </p15:clr>
        </p15:guide>
        <p15:guide id="11" pos="207">
          <p15:clr>
            <a:srgbClr val="5ACBF0"/>
          </p15:clr>
        </p15:guide>
        <p15:guide id="12" orient="horz" pos="4832">
          <p15:clr>
            <a:srgbClr val="5ACBF0"/>
          </p15:clr>
        </p15:guide>
        <p15:guide id="13" pos="9164">
          <p15:clr>
            <a:srgbClr val="9FCC3B"/>
          </p15:clr>
        </p15:guide>
        <p15:guide id="14" orient="horz" pos="401">
          <p15:clr>
            <a:srgbClr val="9FCC3B"/>
          </p15:clr>
        </p15:guide>
        <p15:guide id="15" orient="horz" pos="4622">
          <p15:clr>
            <a:srgbClr val="9FCC3B"/>
          </p15:clr>
        </p15:guide>
        <p15:guide id="16" orient="horz" pos="983">
          <p15:clr>
            <a:srgbClr val="A4A3A4"/>
          </p15:clr>
        </p15:guide>
        <p15:guide id="17" orient="horz" pos="4490">
          <p15:clr>
            <a:srgbClr val="A4A3A4"/>
          </p15:clr>
        </p15:guide>
        <p15:guide id="18" pos="8654">
          <p15:clr>
            <a:srgbClr val="C35EA4"/>
          </p15:clr>
        </p15:guide>
        <p15:guide id="19" orient="horz" pos="1351">
          <p15:clr>
            <a:srgbClr val="FDE53C"/>
          </p15:clr>
        </p15:guide>
        <p15:guide id="20" pos="8768">
          <p15:clr>
            <a:srgbClr val="F26B43"/>
          </p15:clr>
        </p15:guide>
        <p15:guide id="21" pos="8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898D3F2-5EC6-4985-85B5-4178882B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50E54BBC-E15F-4274-9991-03B6F5BA4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74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</p:sldLayoutIdLst>
  <p:hf hd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69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2129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35" r:id="rId22"/>
    <p:sldLayoutId id="2147483736" r:id="rId23"/>
    <p:sldLayoutId id="2147483737" r:id="rId24"/>
    <p:sldLayoutId id="2147483738" r:id="rId25"/>
    <p:sldLayoutId id="2147483739" r:id="rId26"/>
    <p:sldLayoutId id="2147483740" r:id="rId27"/>
    <p:sldLayoutId id="2147483741" r:id="rId28"/>
    <p:sldLayoutId id="2147483742" r:id="rId29"/>
    <p:sldLayoutId id="2147483743" r:id="rId30"/>
    <p:sldLayoutId id="2147483744" r:id="rId31"/>
    <p:sldLayoutId id="2147483745" r:id="rId32"/>
    <p:sldLayoutId id="2147483746" r:id="rId33"/>
    <p:sldLayoutId id="2147483747" r:id="rId34"/>
    <p:sldLayoutId id="2147483748" r:id="rId35"/>
    <p:sldLayoutId id="2147483749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0" r:id="rId47"/>
    <p:sldLayoutId id="2147483761" r:id="rId48"/>
    <p:sldLayoutId id="2147483762" r:id="rId49"/>
    <p:sldLayoutId id="2147483763" r:id="rId50"/>
    <p:sldLayoutId id="2147483764" r:id="rId51"/>
    <p:sldLayoutId id="2147483765" r:id="rId52"/>
    <p:sldLayoutId id="2147483766" r:id="rId53"/>
    <p:sldLayoutId id="2147483767" r:id="rId54"/>
    <p:sldLayoutId id="2147483768" r:id="rId55"/>
    <p:sldLayoutId id="2147483769" r:id="rId56"/>
    <p:sldLayoutId id="2147483770" r:id="rId57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>
          <p15:clr>
            <a:srgbClr val="5ACBF0"/>
          </p15:clr>
        </p15:guide>
        <p15:guide id="8" pos="347">
          <p15:clr>
            <a:srgbClr val="9FCC3B"/>
          </p15:clr>
        </p15:guide>
        <p15:guide id="9" pos="733">
          <p15:clr>
            <a:srgbClr val="C35EA4"/>
          </p15:clr>
        </p15:guide>
        <p15:guide id="10" pos="7514">
          <p15:clr>
            <a:srgbClr val="5ACBF0"/>
          </p15:clr>
        </p15:guide>
        <p15:guide id="11" pos="166">
          <p15:clr>
            <a:srgbClr val="5ACBF0"/>
          </p15:clr>
        </p15:guide>
        <p15:guide id="12" orient="horz" pos="4156">
          <p15:clr>
            <a:srgbClr val="5ACBF0"/>
          </p15:clr>
        </p15:guide>
        <p15:guide id="13" pos="7333">
          <p15:clr>
            <a:srgbClr val="9FCC3B"/>
          </p15:clr>
        </p15:guide>
        <p15:guide id="14" orient="horz" pos="346">
          <p15:clr>
            <a:srgbClr val="9FCC3B"/>
          </p15:clr>
        </p15:guide>
        <p15:guide id="15" orient="horz" pos="3974">
          <p15:clr>
            <a:srgbClr val="9FCC3B"/>
          </p15:clr>
        </p15:guide>
        <p15:guide id="16" orient="horz" pos="845">
          <p15:clr>
            <a:srgbClr val="A4A3A4"/>
          </p15:clr>
        </p15:guide>
        <p15:guide id="17" orient="horz" pos="3861">
          <p15:clr>
            <a:srgbClr val="A4A3A4"/>
          </p15:clr>
        </p15:guide>
        <p15:guide id="18" pos="6924">
          <p15:clr>
            <a:srgbClr val="C35EA4"/>
          </p15:clr>
        </p15:guide>
        <p15:guide id="19" orient="horz" pos="1162">
          <p15:clr>
            <a:srgbClr val="FDE53C"/>
          </p15:clr>
        </p15:guide>
        <p15:guide id="20" pos="7015">
          <p15:clr>
            <a:srgbClr val="F26B43"/>
          </p15:clr>
        </p15:guide>
        <p15:guide id="21" pos="66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5.jpg"/><Relationship Id="rId4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jpe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F81C1D7-25E7-2AEA-5B9C-B4934B41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3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35BF95-9260-FF3E-8BA1-F61D8AD0F5C6}"/>
              </a:ext>
            </a:extLst>
          </p:cNvPr>
          <p:cNvSpPr txBox="1"/>
          <p:nvPr/>
        </p:nvSpPr>
        <p:spPr>
          <a:xfrm>
            <a:off x="2989992" y="5411118"/>
            <a:ext cx="6212017" cy="56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ts val="37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503030202060203" pitchFamily="34" charset="77"/>
                <a:ea typeface="+mn-ea"/>
                <a:cs typeface="+mn-cs"/>
              </a:rPr>
              <a:t>From KPI anomaly to action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D2B6F5-4632-A6A7-D235-C4D1E256BD27}"/>
              </a:ext>
            </a:extLst>
          </p:cNvPr>
          <p:cNvSpPr/>
          <p:nvPr/>
        </p:nvSpPr>
        <p:spPr>
          <a:xfrm>
            <a:off x="3858744" y="5990476"/>
            <a:ext cx="4474512" cy="352647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 Regular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8F6C9-FCFE-86D4-8670-F533A4CE4650}"/>
              </a:ext>
            </a:extLst>
          </p:cNvPr>
          <p:cNvSpPr txBox="1"/>
          <p:nvPr/>
        </p:nvSpPr>
        <p:spPr>
          <a:xfrm>
            <a:off x="3858744" y="5972549"/>
            <a:ext cx="447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503030202060203" pitchFamily="34" charset="77"/>
                <a:ea typeface="+mn-ea"/>
                <a:cs typeface="+mn-cs"/>
              </a:rPr>
              <a:t>Accenture Innovation Challenge 2026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F1EFF8-B673-136C-4910-73D1BC9075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3" y="667062"/>
            <a:ext cx="1251231" cy="33046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743200" y="475488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A600FF"/>
                </a:solidFill>
                <a:latin typeface="Aptos"/>
              </a:rPr>
              <a:t>BusinessIntelligence.ai  |  KPI Intelligence-to-Action Engine</a:t>
            </a:r>
          </a:p>
        </p:txBody>
      </p:sp>
    </p:spTree>
    <p:extLst>
      <p:ext uri="{BB962C8B-B14F-4D97-AF65-F5344CB8AC3E}">
        <p14:creationId xmlns:p14="http://schemas.microsoft.com/office/powerpoint/2010/main" val="4229161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3E37827-E5D7-46FD-9143-ABFBF88A628E}"/>
              </a:ext>
            </a:extLst>
          </p:cNvPr>
          <p:cNvSpPr/>
          <p:nvPr/>
        </p:nvSpPr>
        <p:spPr>
          <a:xfrm>
            <a:off x="7385349" y="2505161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1E876B-A706-450C-8C34-951E6FA6C00F}"/>
              </a:ext>
            </a:extLst>
          </p:cNvPr>
          <p:cNvSpPr/>
          <p:nvPr/>
        </p:nvSpPr>
        <p:spPr>
          <a:xfrm>
            <a:off x="852718" y="2506579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0A31654-439B-4571-B7B1-2E29E58E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913" y="525056"/>
            <a:ext cx="11430000" cy="726439"/>
          </a:xfrm>
        </p:spPr>
        <p:txBody>
          <a:bodyPr/>
          <a:lstStyle/>
          <a:p>
            <a:r>
              <a:rPr lang="en-US" dirty="0" sz="1500" b="1">
                <a:solidFill>
                  <a:srgbClr val="1C1C20"/>
                </a:solidFill>
                <a:latin typeface="Aptos Display"/>
              </a:rPr>
              <a:t>Team details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58B87F-AD17-4B30-9FAA-C5C07FCFFE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6202" y="6519009"/>
            <a:ext cx="385711" cy="20637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alpha val="40000"/>
                  </a:srgb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alpha val="40000"/>
                </a:srgb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pic>
        <p:nvPicPr>
          <p:cNvPr id="23" name="Picture Placeholder 75">
            <a:extLst>
              <a:ext uri="{FF2B5EF4-FFF2-40B4-BE49-F238E27FC236}">
                <a16:creationId xmlns:a16="http://schemas.microsoft.com/office/drawing/2014/main" id="{8DF0ED10-FA32-47BA-8D4F-7620C7B46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6636" y="2405772"/>
            <a:ext cx="1434218" cy="1471323"/>
          </a:xfrm>
          <a:prstGeom prst="rect">
            <a:avLst/>
          </a:prstGeom>
        </p:spPr>
      </p:pic>
      <p:sp>
        <p:nvSpPr>
          <p:cNvPr id="39" name="Text Placeholder 27">
            <a:extLst>
              <a:ext uri="{FF2B5EF4-FFF2-40B4-BE49-F238E27FC236}">
                <a16:creationId xmlns:a16="http://schemas.microsoft.com/office/drawing/2014/main" id="{1D437424-4E2F-45EB-945E-4A07F8154854}"/>
              </a:ext>
            </a:extLst>
          </p:cNvPr>
          <p:cNvSpPr txBox="1">
            <a:spLocks/>
          </p:cNvSpPr>
          <p:nvPr/>
        </p:nvSpPr>
        <p:spPr>
          <a:xfrm>
            <a:off x="2637616" y="2098914"/>
            <a:ext cx="31770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2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A600FF"/>
                </a:solidFill>
                <a:effectLst/>
                <a:uLnTx/>
                <a:uFillTx/>
                <a:latin typeface="Aptos Display"/>
                <a:ea typeface="+mn-ea"/>
                <a:cs typeface="+mn-cs"/>
              </a:rPr>
              <a:t>Harsh Singh Baghel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13373B-BBFC-437A-A7F1-E5017F23DD33}"/>
              </a:ext>
            </a:extLst>
          </p:cNvPr>
          <p:cNvSpPr/>
          <p:nvPr/>
        </p:nvSpPr>
        <p:spPr>
          <a:xfrm>
            <a:off x="255634" y="6368280"/>
            <a:ext cx="670956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Aptos"/>
                <a:ea typeface="+mn-ea"/>
                <a:cs typeface="+mn-cs"/>
              </a:rPr>
              <a:t>All fields are mandatory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6E72D5-38A8-4FA5-9EBD-60021A357B2A}"/>
              </a:ext>
            </a:extLst>
          </p:cNvPr>
          <p:cNvSpPr/>
          <p:nvPr/>
        </p:nvSpPr>
        <p:spPr>
          <a:xfrm>
            <a:off x="852718" y="4463806"/>
            <a:ext cx="1481237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Photo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03A2336-9DAB-4FE3-86E5-A5694B473965}"/>
              </a:ext>
            </a:extLst>
          </p:cNvPr>
          <p:cNvCxnSpPr>
            <a:cxnSpLocks/>
          </p:cNvCxnSpPr>
          <p:nvPr/>
        </p:nvCxnSpPr>
        <p:spPr>
          <a:xfrm>
            <a:off x="6096000" y="1521230"/>
            <a:ext cx="0" cy="4523725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2BAEA9-C010-474F-8C80-BD3D504C25C1}"/>
              </a:ext>
            </a:extLst>
          </p:cNvPr>
          <p:cNvCxnSpPr/>
          <p:nvPr/>
        </p:nvCxnSpPr>
        <p:spPr>
          <a:xfrm>
            <a:off x="2623232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Placeholder 27">
            <a:extLst>
              <a:ext uri="{FF2B5EF4-FFF2-40B4-BE49-F238E27FC236}">
                <a16:creationId xmlns:a16="http://schemas.microsoft.com/office/drawing/2014/main" id="{83134DD2-B1F2-44EA-BCAB-CB7F6D0B5057}"/>
              </a:ext>
            </a:extLst>
          </p:cNvPr>
          <p:cNvSpPr txBox="1">
            <a:spLocks/>
          </p:cNvSpPr>
          <p:nvPr/>
        </p:nvSpPr>
        <p:spPr>
          <a:xfrm>
            <a:off x="2751413" y="4203349"/>
            <a:ext cx="14747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2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sz="1600">
                <a:latin typeface="Aptos"/>
              </a:rPr>
              <a:t>Rathod Rudra</a:t>
            </a:r>
            <a:endParaRPr kumimoji="0" lang="en-GB" sz="3600" b="1" i="0" u="none" strike="noStrike" kern="1200" cap="none" spc="0" normalizeH="0" baseline="0" noProof="0" dirty="0">
              <a:ln>
                <a:noFill/>
              </a:ln>
              <a:solidFill>
                <a:srgbClr val="A100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57CC230-E21C-4184-9D11-81950CC08A89}"/>
              </a:ext>
            </a:extLst>
          </p:cNvPr>
          <p:cNvCxnSpPr/>
          <p:nvPr/>
        </p:nvCxnSpPr>
        <p:spPr>
          <a:xfrm>
            <a:off x="2751413" y="5101825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Picture Placeholder 75">
            <a:extLst>
              <a:ext uri="{FF2B5EF4-FFF2-40B4-BE49-F238E27FC236}">
                <a16:creationId xmlns:a16="http://schemas.microsoft.com/office/drawing/2014/main" id="{5E355391-27FE-4824-9548-B5688C3FCC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21998" y="2405772"/>
            <a:ext cx="1510522" cy="1471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7" name="Text Placeholder 27">
            <a:extLst>
              <a:ext uri="{FF2B5EF4-FFF2-40B4-BE49-F238E27FC236}">
                <a16:creationId xmlns:a16="http://schemas.microsoft.com/office/drawing/2014/main" id="{AB89B70E-DDF2-41D3-9411-6AA78204B1DA}"/>
              </a:ext>
            </a:extLst>
          </p:cNvPr>
          <p:cNvSpPr txBox="1">
            <a:spLocks/>
          </p:cNvSpPr>
          <p:nvPr/>
        </p:nvSpPr>
        <p:spPr>
          <a:xfrm>
            <a:off x="9165642" y="2199446"/>
            <a:ext cx="2283067" cy="710629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GB" sz="2800" dirty="0" b="1">
                <a:solidFill>
                  <a:srgbClr val="A600FF"/>
                </a:solidFill>
                <a:latin typeface="Aptos Display"/>
              </a:rPr>
              <a:t>Dhruv Maheshwari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388F804-0525-4F8E-A5CE-A9E521C1E260}"/>
              </a:ext>
            </a:extLst>
          </p:cNvPr>
          <p:cNvCxnSpPr/>
          <p:nvPr/>
        </p:nvCxnSpPr>
        <p:spPr>
          <a:xfrm>
            <a:off x="9151259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2">
            <a:extLst>
              <a:ext uri="{FF2B5EF4-FFF2-40B4-BE49-F238E27FC236}">
                <a16:creationId xmlns:a16="http://schemas.microsoft.com/office/drawing/2014/main" id="{A29DB088-2EF4-4C53-A6E2-75C9C7F3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631207"/>
              </p:ext>
            </p:extLst>
          </p:nvPr>
        </p:nvGraphicFramePr>
        <p:xfrm>
          <a:off x="461913" y="1173024"/>
          <a:ext cx="11617737" cy="37845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4382355">
                  <a:extLst>
                    <a:ext uri="{9D8B030D-6E8A-4147-A177-3AD203B41FA5}">
                      <a16:colId xmlns:a16="http://schemas.microsoft.com/office/drawing/2014/main" val="129918070"/>
                    </a:ext>
                  </a:extLst>
                </a:gridCol>
                <a:gridCol w="7235382">
                  <a:extLst>
                    <a:ext uri="{9D8B030D-6E8A-4147-A177-3AD203B41FA5}">
                      <a16:colId xmlns:a16="http://schemas.microsoft.com/office/drawing/2014/main" val="1188269312"/>
                    </a:ext>
                  </a:extLst>
                </a:gridCol>
              </a:tblGrid>
              <a:tr h="37845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A100FF"/>
                          </a:solidFill>
                        </a:rPr>
                        <a:t>TEAM NAME:  Warriors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dirty="0">
                        <a:solidFill>
                          <a:srgbClr val="A100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51245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2218D32-4F17-4A5E-9BE4-29837BF54E70}"/>
              </a:ext>
            </a:extLst>
          </p:cNvPr>
          <p:cNvSpPr txBox="1"/>
          <p:nvPr/>
        </p:nvSpPr>
        <p:spPr>
          <a:xfrm>
            <a:off x="2623232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College: IIT Patna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Stream: Engineering Physics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Year of graduation: 2028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9131AF-0078-459E-83A3-73A8BC9A11B8}"/>
              </a:ext>
            </a:extLst>
          </p:cNvPr>
          <p:cNvSpPr txBox="1"/>
          <p:nvPr/>
        </p:nvSpPr>
        <p:spPr>
          <a:xfrm>
            <a:off x="2637616" y="5236045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  <a:latin typeface="Aptos"/>
              </a:rPr>
              <a:t>College: IIT Patna</a:t>
            </a:r>
          </a:p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  <a:latin typeface="Aptos"/>
              </a:rPr>
              <a:t>Stream: Engineering Physics</a:t>
            </a:r>
          </a:p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  <a:latin typeface="Aptos"/>
              </a:rPr>
              <a:t>Year of graduation: 2029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AF310E-EC91-4906-9FCC-95C833C3D011}"/>
              </a:ext>
            </a:extLst>
          </p:cNvPr>
          <p:cNvSpPr txBox="1"/>
          <p:nvPr/>
        </p:nvSpPr>
        <p:spPr>
          <a:xfrm>
            <a:off x="9122721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  <a:latin typeface="Aptos"/>
              </a:rPr>
              <a:t>College: IIT Patna</a:t>
            </a:r>
          </a:p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  <a:latin typeface="Aptos"/>
              </a:rPr>
              <a:t>Stream: Engineering Physics</a:t>
            </a:r>
          </a:p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  <a:latin typeface="Aptos"/>
              </a:rPr>
              <a:t>Year of graduation: 2028</a:t>
            </a:r>
          </a:p>
        </p:txBody>
      </p:sp>
      <p:pic>
        <p:nvPicPr>
          <p:cNvPr id="2" name="Picture Placeholder 75">
            <a:extLst>
              <a:ext uri="{FF2B5EF4-FFF2-40B4-BE49-F238E27FC236}">
                <a16:creationId xmlns:a16="http://schemas.microsoft.com/office/drawing/2014/main" id="{5EAA4F6C-4EAD-B06C-205E-1229686679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6636" y="4361533"/>
            <a:ext cx="1434218" cy="1471323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160520" y="6263640"/>
            <a:ext cx="3840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600FF"/>
                </a:solidFill>
                <a:latin typeface="Aptos"/>
              </a:rPr>
              <a:t>TEAM WARRIORS  •  IIT PATNA</a:t>
            </a:r>
          </a:p>
        </p:txBody>
      </p:sp>
    </p:spTree>
    <p:extLst>
      <p:ext uri="{BB962C8B-B14F-4D97-AF65-F5344CB8AC3E}">
        <p14:creationId xmlns:p14="http://schemas.microsoft.com/office/powerpoint/2010/main" val="2959471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A9BBD3-4F02-1DCE-6B74-90C4E0B91E57}"/>
              </a:ext>
            </a:extLst>
          </p:cNvPr>
          <p:cNvSpPr txBox="1"/>
          <p:nvPr/>
        </p:nvSpPr>
        <p:spPr>
          <a:xfrm>
            <a:off x="361458" y="1102132"/>
            <a:ext cx="11282796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640080" y="292608"/>
            <a:ext cx="10881360" cy="548640"/>
          </a:xfrm>
          <a:prstGeom prst="rect">
            <a:avLst/>
          </a:prstGeom>
          <a:noFill/>
        </p:spPr>
        <p:txBody>
          <a:bodyPr wrap="square" anchor="t" l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rPr sz="2200" b="1">
                <a:solidFill>
                  <a:srgbClr val="1C1C20"/>
                </a:solidFill>
                <a:latin typeface="Aptos Display"/>
              </a:rPr>
              <a:t>The problem: dashboards explain WHAT, not WHY or WHAT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394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C1C20"/>
                </a:solidFill>
                <a:latin typeface="Aptos"/>
              </a:rPr>
              <a:t>A red KPI is only a symptom. The real business question is: what caused the deviation, how much did each factor contribute, and what should we do now?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3429000" cy="16916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64008" cy="16916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03704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Internal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3063240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ERP sales &amp; order data
Inventory / warehouse backlog
Jira defects and support tickets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057400"/>
            <a:ext cx="3429000" cy="16916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0520" y="2057400"/>
            <a:ext cx="64008" cy="16916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2203704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External signals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2651760"/>
            <a:ext cx="3063240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Supply-chain disruption
Port strikes / tariffs
Competitor pricing and market shocks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2057400"/>
            <a:ext cx="3429000" cy="16916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3568" y="2203704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Human bottleneck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651760"/>
            <a:ext cx="3063240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Analysts manually join SQL, tickets, operations and news. Investigation can take 4–7 days.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A600FF"/>
                </a:solidFill>
                <a:latin typeface="Aptos Display"/>
              </a:rPr>
              <a:t>THREE ENTERPRISE RISKS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572000"/>
            <a:ext cx="3246120" cy="12344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4572000"/>
            <a:ext cx="64008" cy="12344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718304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Critical latency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5166360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By the time root cause is known, revenue loss may already be permanent.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69080" y="4572000"/>
            <a:ext cx="3246120" cy="12344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69080" y="4572000"/>
            <a:ext cx="64008" cy="12344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0248" y="4718304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Alert fatigue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0248" y="5166360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Normal weekend or seasonal movement gets investigated as an incident.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4572000"/>
            <a:ext cx="3246120" cy="12344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52360" y="4572000"/>
            <a:ext cx="64008" cy="12344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53528" y="4718304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Decision guesswork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53528" y="5166360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Leadership lacks quantified causal evidence and recovery scenarios.</a:t>
            </a:r>
          </a:p>
        </p:txBody>
      </p:sp>
    </p:spTree>
    <p:extLst>
      <p:ext uri="{BB962C8B-B14F-4D97-AF65-F5344CB8AC3E}">
        <p14:creationId xmlns:p14="http://schemas.microsoft.com/office/powerpoint/2010/main" val="969716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8B3A8E-8CD7-BACF-E784-DACC04D7DC42}"/>
              </a:ext>
            </a:extLst>
          </p:cNvPr>
          <p:cNvSpPr txBox="1"/>
          <p:nvPr/>
        </p:nvSpPr>
        <p:spPr>
          <a:xfrm>
            <a:off x="340961" y="1078992"/>
            <a:ext cx="11282796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292608"/>
            <a:ext cx="10881360" cy="548640"/>
          </a:xfrm>
          <a:prstGeom prst="rect">
            <a:avLst/>
          </a:prstGeom>
          <a:noFill/>
        </p:spPr>
        <p:txBody>
          <a:bodyPr wrap="square" anchor="t" l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rPr sz="2200" b="1">
                <a:solidFill>
                  <a:srgbClr val="1C1C20"/>
                </a:solidFill>
                <a:latin typeface="Aptos Display"/>
              </a:rPr>
              <a:t>Foundation: governed data + deterministic math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50" b="0">
                <a:solidFill>
                  <a:srgbClr val="5C5C62"/>
                </a:solidFill>
                <a:latin typeface="Aptos"/>
              </a:rPr>
              <a:t>Before any LLM reasoning, the platform standardizes data, detects true anomalies and calculates exact KPI attribution.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2560320" cy="19202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64008" cy="19202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37944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4 canonical KPIs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86000"/>
            <a:ext cx="219456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Gross Revenue
Order Volume
Conversion Rate
Average Order Value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691640"/>
            <a:ext cx="2560320" cy="19202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691640"/>
            <a:ext cx="64008" cy="19202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1837944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Heterogeneous 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2286000"/>
            <a:ext cx="219456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Daily ERP transactions
Hourly web sessions
Weekly Jira + support logs
Governed semantic contract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1691640"/>
            <a:ext cx="2560320" cy="19202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1691640"/>
            <a:ext cx="64008" cy="19202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7" y="1837944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SPC anomaly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7" y="2286000"/>
            <a:ext cx="219456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28-day rolling baseline
Day-of-week normalization
Trigger at &gt;2.5σ
Filters ordinary fluctuations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1691640"/>
            <a:ext cx="2560320" cy="19202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9408" y="1837944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Exact causal tree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8" y="2286000"/>
            <a:ext cx="219456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Closed-form Shapley / LMDI-style decomposition
Zero residual by construction
No LLM math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77639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A600FF"/>
                </a:solidFill>
                <a:latin typeface="Aptos Display"/>
              </a:rPr>
              <a:t>EXACT KPI DECOMPOSITION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80560"/>
            <a:ext cx="104241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A600FF"/>
                </a:solidFill>
                <a:latin typeface="Aptos Display"/>
              </a:rPr>
              <a:t>Revenue = Sessions × Conversion Rate × AOV
ΔRevenue = ΔSessions + ΔCVR + ΔAOV + Residual, with Residual =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2578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50" b="0">
                <a:solidFill>
                  <a:srgbClr val="5C5C62"/>
                </a:solidFill>
                <a:latin typeface="Aptos"/>
              </a:rPr>
              <a:t>This creates an auditable boundary: deterministic mathematics owns measurement and attribution; AI owns contextual investigation, synthesis and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2205980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8CF69-3B38-8F7E-8355-6FB19B15D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4F8975F-047D-2696-E8BE-A3A8DCE0C7AC}"/>
              </a:ext>
            </a:extLst>
          </p:cNvPr>
          <p:cNvSpPr txBox="1"/>
          <p:nvPr/>
        </p:nvSpPr>
        <p:spPr>
          <a:xfrm>
            <a:off x="340961" y="1078992"/>
            <a:ext cx="11282796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/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3CD560F5-3170-FA9D-6A82-64F26ABB6399}"/>
              </a:ext>
            </a:extLst>
          </p:cNvPr>
          <p:cNvSpPr txBox="1">
            <a:spLocks/>
          </p:cNvSpPr>
          <p:nvPr/>
        </p:nvSpPr>
        <p:spPr>
          <a:xfrm>
            <a:off x="340961" y="342685"/>
            <a:ext cx="11282796" cy="423125"/>
          </a:xfrm>
          <a:prstGeom prst="rect">
            <a:avLst/>
          </a:prstGeom>
          <a:solidFill>
            <a:srgbClr val="A100FF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IN" sz="2000" b="1" dirty="0">
              <a:solidFill>
                <a:schemeClr val="bg1"/>
              </a:solidFill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292608"/>
            <a:ext cx="10881360" cy="548640"/>
          </a:xfrm>
          <a:prstGeom prst="rect">
            <a:avLst/>
          </a:prstGeom>
          <a:noFill/>
        </p:spPr>
        <p:txBody>
          <a:bodyPr wrap="square" anchor="t" l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rPr sz="2200" b="1">
                <a:solidFill>
                  <a:srgbClr val="1C1C20"/>
                </a:solidFill>
                <a:latin typeface="Aptos Display"/>
              </a:rPr>
              <a:t>The 3-model architecture: investigate from both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78992"/>
            <a:ext cx="10972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C1C20"/>
                </a:solidFill>
                <a:latin typeface="Aptos Display"/>
              </a:rPr>
              <a:t>Two specialist models investigate independently; a third model reconciles evidence and turns it into 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45920"/>
            <a:ext cx="3520440" cy="27889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4008" cy="27889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792224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MODEL 1  |  INTERNAL DIAGNOSTIC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240280"/>
            <a:ext cx="3154680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Purpose: isolate operational bottlenecks.
Inputs:
• ERP/order backlog
• Warehouse / WMS signals
• Jira defects
• Customer support
Output: ranked internal hypotheses with supporting evidence.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645920"/>
            <a:ext cx="3520440" cy="27889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0" y="1645920"/>
            <a:ext cx="64008" cy="27889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7" y="1792224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MODEL 2  |  MACRO SENTINEL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2240280"/>
            <a:ext cx="3154680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Purpose: detect external shocks invisible to internal systems.
Inputs:
• Live market / news feeds
• Supply-chain events
• Competitor moves
• Tariffs / disruption signals
Output: quantified external-impact hypotheses.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45920"/>
            <a:ext cx="3520440" cy="27889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1792224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MODEL 3  |  DECISION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2240280"/>
            <a:ext cx="3154680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Purpose: synthesize and prescribe.
Combines Model 1 + 2 with exact causal attribution, then produces:
• confidence / abstention state
• recommended actions
• 30/60/90-day trajectory ROI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00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A600FF"/>
                </a:solidFill>
                <a:latin typeface="Aptos Display"/>
              </a:rPr>
              <a:t>EXAMPLE: COMPOUND KPI DROP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5780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C1C20"/>
                </a:solidFill>
                <a:latin typeface="Aptos"/>
              </a:rPr>
              <a:t>70%  Port strike
External shock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525780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C1C20"/>
                </a:solidFill>
                <a:latin typeface="Aptos"/>
              </a:rPr>
              <a:t>+  30%  WMS backlog
Internal bottleneck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525780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C1C20"/>
                </a:solidFill>
                <a:latin typeface="Aptos"/>
              </a:rPr>
              <a:t>100% explained
Zero-residual attribution</a:t>
            </a:r>
          </a:p>
        </p:txBody>
      </p:sp>
    </p:spTree>
    <p:extLst>
      <p:ext uri="{BB962C8B-B14F-4D97-AF65-F5344CB8AC3E}">
        <p14:creationId xmlns:p14="http://schemas.microsoft.com/office/powerpoint/2010/main" val="158673703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292608"/>
            <a:ext cx="10881360" cy="548640"/>
          </a:xfrm>
          <a:prstGeom prst="rect">
            <a:avLst/>
          </a:prstGeom>
          <a:noFill/>
        </p:spPr>
        <p:txBody>
          <a:bodyPr wrap="square" anchor="t" l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rPr sz="2200" b="1">
                <a:solidFill>
                  <a:srgbClr val="1C1C20"/>
                </a:solidFill>
                <a:latin typeface="Aptos Display"/>
              </a:rPr>
              <a:t>Designed for uncertainty, cold starts and access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474720" cy="32461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32461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3502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SCENARIO 1  |  MULTI-FACTOR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783080"/>
            <a:ext cx="3108960" cy="2532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Known compound event.
70% macro port strike + 30% internal inventory backlog.
System gives exact attribution, evidence lineage and an action plan.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188720"/>
            <a:ext cx="3474720" cy="32461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60520" y="1188720"/>
            <a:ext cx="64008" cy="32461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33502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SCENARIO 2  |  AMBIGUOUS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783080"/>
            <a:ext cx="3108960" cy="2532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Conflicting evidence triggers explicit abstention.
Instead of inventing a cause, the engine ranks hypotheses (e.g. 58% vs 42%) and proposes two low-cost canary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1188720"/>
            <a:ext cx="3474720" cy="32461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33502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SCENARIO 3  |  COLD 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1783080"/>
            <a:ext cx="3108960" cy="2532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Sparse history: N = 6 &lt; 14.
Uses a Bayesian category prior and wide uncertainty bands (±45%) rather than pretending the baseline is precise.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A100FF"/>
                </a:solidFill>
              </a:defRPr>
            </a:pPr>
            <a:r>
              <a:rPr sz="1500" b="1">
                <a:solidFill>
                  <a:srgbClr val="A600FF"/>
                </a:solidFill>
                <a:latin typeface="Aptos Display"/>
              </a:rPr>
              <a:t>SCENARIO 4  |  ROLE-BASED ENTITLEMENTS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66344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>
                <a:solidFill>
                  <a:srgbClr val="141414"/>
                </a:solidFill>
              </a:defRPr>
            </a:pPr>
            <a:r>
              <a:rPr sz="1650" b="1">
                <a:solidFill>
                  <a:srgbClr val="1C1C20"/>
                </a:solidFill>
                <a:latin typeface="Aptos"/>
              </a:rPr>
              <a:t>Sensitive cost / margin fields are dynamically masked for unauthorized personas. Executives receive strategic economics; Operations receives actionable playbooks and system-level details.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/>
          <p:cNvSpPr txBox="1"/>
          <p:nvPr/>
        </p:nvSpPr>
        <p:spPr>
          <a:xfrm>
            <a:off x="640080" y="292608"/>
            <a:ext cx="10881360" cy="548640"/>
          </a:xfrm>
          <a:prstGeom prst="rect">
            <a:avLst/>
          </a:prstGeom>
          <a:noFill/>
        </p:spPr>
        <p:txBody>
          <a:bodyPr wrap="square" anchor="t" l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rPr sz="2200" b="1">
                <a:solidFill>
                  <a:srgbClr val="1C1C20"/>
                </a:solidFill>
                <a:latin typeface="Aptos Display"/>
              </a:rPr>
              <a:t>From root cause to an executable recovery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3474720" cy="201168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64008" cy="201168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38074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1  SYNTHESIZE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3108960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Merge specialist findings with deterministic attribution.
Return cause contribution, confidence, evidence and unresolved questions.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1234440"/>
            <a:ext cx="3474720" cy="201168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0520" y="1234440"/>
            <a:ext cx="64008" cy="201168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38074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2  SIMULATE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1828800"/>
            <a:ext cx="3108960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Project 30 / 60 / 90-day trajectories.
Compare recovery revenue, intervention cost, risk and payback before committing spend.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234440"/>
            <a:ext cx="3474720" cy="201168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3568" y="138074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3  CONSTRAIN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1828800"/>
            <a:ext cx="3108960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Executives can mix human judgment with model output.
Budget caps, time horizon and policy overrides immediately recalculate the plan.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A100FF"/>
                </a:solidFill>
              </a:defRPr>
            </a:pPr>
            <a:r>
              <a:rPr sz="1500" b="1">
                <a:solidFill>
                  <a:srgbClr val="A600FF"/>
                </a:solidFill>
                <a:latin typeface="Aptos Display"/>
              </a:rPr>
              <a:t>PERSONA-TAILORED 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160520"/>
            <a:ext cx="5074920" cy="14173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4160520"/>
            <a:ext cx="64008" cy="14173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306824"/>
            <a:ext cx="47091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Executive / VP brief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754880"/>
            <a:ext cx="4709159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Strategic levers • macro exposure • recovery economics • investment trade-offs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4160520"/>
            <a:ext cx="5074920" cy="14173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0" y="4160520"/>
            <a:ext cx="64008" cy="14173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4306824"/>
            <a:ext cx="47091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Operations / Category Manager brief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44768" y="4754880"/>
            <a:ext cx="4709159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Playbook steps • system IDs • operational blockers • owners and next checks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>
                <a:solidFill>
                  <a:srgbClr val="505050"/>
                </a:solidFill>
              </a:defRPr>
            </a:pPr>
            <a:r>
              <a:rPr sz="1450" b="0">
                <a:solidFill>
                  <a:srgbClr val="5C5C62"/>
                </a:solidFill>
                <a:latin typeface="Aptos"/>
              </a:rPr>
              <a:t>Human-in-the-loop feedback is captured through ratings, corrections and constraint mixing — creating a controlled learning loop.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292608"/>
            <a:ext cx="10881360" cy="548640"/>
          </a:xfrm>
          <a:prstGeom prst="rect">
            <a:avLst/>
          </a:prstGeom>
          <a:noFill/>
        </p:spPr>
        <p:txBody>
          <a:bodyPr wrap="square" anchor="t" lIns="0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rPr sz="2200" b="1">
                <a:solidFill>
                  <a:srgbClr val="FFFFFF"/>
                </a:solidFill>
                <a:latin typeface="Aptos Display"/>
              </a:rPr>
              <a:t>Enterprise-ready controls: evidence, lineage, telemetry and fallback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3474720" cy="205740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64008" cy="205740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93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Governed semantic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737360"/>
            <a:ext cx="310896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Canonical KPI formulas, lineage graph and invariant checks keep every component aligned to the same business definitions.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143000"/>
            <a:ext cx="3474720" cy="205740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60520" y="1143000"/>
            <a:ext cx="64008" cy="205740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2893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Evidence + lineage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737360"/>
            <a:ext cx="310896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The UI exposes source freshness, supporting records and the path from raw evidence → hypothesis → recommendation.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1143000"/>
            <a:ext cx="3474720" cy="205740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1143000"/>
            <a:ext cx="64008" cy="205740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2893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Runtime telemetry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1737360"/>
            <a:ext cx="310896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Track latency (ms), token usage, deterministic-math vs LLM split and estimated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20440"/>
            <a:ext cx="3474720" cy="205740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66674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Pluggable providers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14800"/>
            <a:ext cx="310896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Live OpenAI / Gemini / Ollama support with an instant deterministic mock fallback for reliable demos and testing.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3520440"/>
            <a:ext cx="3474720" cy="205740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60520" y="3520440"/>
            <a:ext cx="64008" cy="205740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366674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Tested end-to-end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114800"/>
            <a:ext cx="310896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Headless test suite covers all four scenarios, math invariants and RBAC; adversarial stress testing includes 10,000 randomized Shapley trials.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3520440"/>
            <a:ext cx="3474720" cy="205740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0" y="3520440"/>
            <a:ext cx="64008" cy="205740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73568" y="366674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Trust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4114800"/>
            <a:ext cx="310896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AI never owns the arithmetic. It explains evidence, ranks hypotheses and recommends actions within governed constraints.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A100FF"/>
                </a:solidFill>
              </a:defRPr>
            </a:pPr>
            <a:r>
              <a:rPr sz="1500" b="1">
                <a:solidFill>
                  <a:srgbClr val="A600FF"/>
                </a:solidFill>
                <a:latin typeface="Aptos Display"/>
              </a:rPr>
              <a:t>Core principle: auditable math + contextual AI + explicit uncertainty + human control.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00" y="2926080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A600FF"/>
                </a:solidFill>
                <a:latin typeface="Aptos Display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8620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600FF"/>
                </a:solidFill>
                <a:latin typeface="Aptos"/>
              </a:rPr>
              <a:t>BusinessIntelligence.ai  •  Team Warriors  •  IIT Patna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48056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A600FF"/>
                </a:solidFill>
                <a:latin typeface="Aptos Display"/>
              </a:rPr>
              <a:t>Detect → Diagnose → Simulate → 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ure 2025">
  <a:themeElements>
    <a:clrScheme name="Custom 20">
      <a:dk1>
        <a:srgbClr val="000000"/>
      </a:dk1>
      <a:lt1>
        <a:srgbClr val="FFFFFF"/>
      </a:lt1>
      <a:dk2>
        <a:srgbClr val="450073"/>
      </a:dk2>
      <a:lt2>
        <a:srgbClr val="A000FF"/>
      </a:lt2>
      <a:accent1>
        <a:srgbClr val="7400C0"/>
      </a:accent1>
      <a:accent2>
        <a:srgbClr val="C1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000FF"/>
      </a:hlink>
      <a:folHlink>
        <a:srgbClr val="74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Graphik_v19_AccessibilityFixes.pptx" id="{6C590743-EE6F-704D-9B30-76795EFC297C}" vid="{E566E052-0B33-5E4D-99EA-EFC16BC751F1}"/>
    </a:ext>
  </a:extLst>
</a:theme>
</file>

<file path=ppt/theme/theme2.xml><?xml version="1.0" encoding="utf-8"?>
<a:theme xmlns:a="http://schemas.openxmlformats.org/drawingml/2006/main" name="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3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4.xml><?xml version="1.0" encoding="utf-8"?>
<a:theme xmlns:a="http://schemas.openxmlformats.org/drawingml/2006/main" name="1_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Graphik_v22_Accessibility" id="{B24F0E14-DE31-5248-A702-F861AB2F5F31}" vid="{E2D4869B-0EAF-0144-9FC0-81C17233BA3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747</Words>
  <Application>Microsoft Office PowerPoint</Application>
  <PresentationFormat>Widescreen</PresentationFormat>
  <Paragraphs>49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Graphik</vt:lpstr>
      <vt:lpstr>Graphik Black</vt:lpstr>
      <vt:lpstr>Graphik Extralight</vt:lpstr>
      <vt:lpstr>Graphik Medium</vt:lpstr>
      <vt:lpstr>Graphik Regular</vt:lpstr>
      <vt:lpstr>Graphik Semibold</vt:lpstr>
      <vt:lpstr>Graphik-Semibold</vt:lpstr>
      <vt:lpstr>GT Sectra Fine Rg</vt:lpstr>
      <vt:lpstr>System Font</vt:lpstr>
      <vt:lpstr>Wingdings</vt:lpstr>
      <vt:lpstr>Accenture 2025</vt:lpstr>
      <vt:lpstr>Titles</vt:lpstr>
      <vt:lpstr>1_Office Theme</vt:lpstr>
      <vt:lpstr>1_Accenture 2025</vt:lpstr>
      <vt:lpstr>PowerPoint Presentation</vt:lpstr>
      <vt:lpstr>Team details</vt:lpstr>
      <vt:lpstr>Describe the problem statement (200 words)</vt:lpstr>
      <vt:lpstr>Proposed solution (200 words)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Tolentino, Ma. Antonette</dc:creator>
  <cp:lastModifiedBy>the last</cp:lastModifiedBy>
  <cp:revision>7</cp:revision>
  <dcterms:created xsi:type="dcterms:W3CDTF">2026-07-24T04:09:52Z</dcterms:created>
  <dcterms:modified xsi:type="dcterms:W3CDTF">2026-08-16T11:40:30Z</dcterms:modified>
</cp:coreProperties>
</file>