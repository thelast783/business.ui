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1"/>
  </p:notesMasterIdLst>
  <p:sldIdLst>
    <p:sldId id="820" r:id="rId5"/>
    <p:sldId id="2857" r:id="rId6"/>
    <p:sldId id="1906872563" r:id="rId7"/>
    <p:sldId id="1906872569" r:id="rId8"/>
    <p:sldId id="1906872572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4.xml"/><Relationship Id="rId39" Type="http://schemas.openxmlformats.org/officeDocument/2006/relationships/slideLayout" Target="../slideLayouts/slideLayout65.xml"/><Relationship Id="rId4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69.xml"/><Relationship Id="rId44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2.xml"/><Relationship Id="rId47" Type="http://schemas.openxmlformats.org/officeDocument/2006/relationships/slideLayout" Target="../slideLayouts/slideLayout73.xml"/><Relationship Id="rId48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5.xml"/><Relationship Id="rId50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83.xml"/><Relationship Id="rId5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2405772"/>
            <a:ext cx="1434218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Harsh Singh Baghel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latin typeface="Graphik"/>
              </a:rPr>
              <a:t>Rathod Rudra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1998" y="2405772"/>
            <a:ext cx="1510522" cy="147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2" y="2199446"/>
            <a:ext cx="2283067" cy="71062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GB" sz="3300" dirty="0"/>
              <a:t>Dhruv Maheshwari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31207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 Warriors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Engineering Physics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4361533"/>
            <a:ext cx="1434218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pPr>
              <a:defRPr sz="1800" b="1">
                <a:solidFill>
                  <a:srgbClr val="461482"/>
                </a:solidFill>
                <a:latin typeface="Arial"/>
              </a:defRPr>
            </a:pPr>
            <a:r>
              <a:t>README: Implementation Approach &amp; 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BBD3-4F02-1DCE-6B74-90C4E0B91E57}"/>
              </a:ext>
            </a:extLst>
          </p:cNvPr>
          <p:cNvSpPr txBox="1"/>
          <p:nvPr/>
        </p:nvSpPr>
        <p:spPr>
          <a:xfrm>
            <a:off x="361458" y="1102132"/>
            <a:ext cx="1128279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050" b="1">
                <a:solidFill>
                  <a:srgbClr val="461482"/>
                </a:solidFill>
                <a:latin typeface="Arial"/>
              </a:defRPr>
            </a:pPr>
            <a:r>
              <a:t>1. Multi-Source Ingestion &amp; Governed Canonical Contract:</a:t>
            </a:r>
          </a:p>
          <a:p>
            <a:pPr>
              <a:spcAft>
                <a:spcPts val="500"/>
              </a:spcAft>
              <a:defRPr sz="950">
                <a:solidFill>
                  <a:srgbClr val="3C3C3C"/>
                </a:solidFill>
                <a:latin typeface="Arial"/>
              </a:defRPr>
            </a:pPr>
            <a:r>
              <a:t>Harmonizes 3 mismatched enterprise grains (Daily ERP sales SQL, Hourly Web clickstream sessions, and Weekly Jira support tickets) into a unified daily canonical snapshot via MultiSourceDataLoader.</a:t>
            </a:r>
          </a:p>
          <a:p>
            <a:pPr>
              <a:spcAft>
                <a:spcPts val="200"/>
              </a:spcAft>
              <a:defRPr sz="1050" b="1">
                <a:solidFill>
                  <a:srgbClr val="461482"/>
                </a:solidFill>
                <a:latin typeface="Arial"/>
              </a:defRPr>
            </a:pPr>
            <a:r>
              <a:t>2. Deterministic Non-LLM Mathematical Core (Zero Hallucinations):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066CC"/>
                </a:solidFill>
                <a:latin typeface="Arial"/>
              </a:rPr>
              <a:t>- SPC Deseasonalization: </a:t>
            </a:r>
            <a:r>
              <a:rPr sz="950">
                <a:solidFill>
                  <a:srgbClr val="3C3C3C"/>
                </a:solidFill>
                <a:latin typeface="Arial"/>
              </a:rPr>
              <a:t>28-day rolling Day-of-Week (DoW) normalized baseline with 2.5-sigma threshold mathematically filters cyclical noise before alerting.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066CC"/>
                </a:solidFill>
                <a:latin typeface="Arial"/>
              </a:rPr>
              <a:t>- Exact Shapley Attribution: </a:t>
            </a:r>
            <a:r>
              <a:rPr sz="950">
                <a:solidFill>
                  <a:srgbClr val="3C3C3C"/>
                </a:solidFill>
                <a:latin typeface="Arial"/>
              </a:rPr>
              <a:t>Closed-form 3-factor metric tree decomposition (Revenue = Sessions * CVR * AOV) with guaranteed 0.00 residual error (|eps| &lt; 10^-12) consuming exactly 0 LLM math tokens.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50" b="1">
                <a:solidFill>
                  <a:srgbClr val="461482"/>
                </a:solidFill>
                <a:latin typeface="Arial"/>
              </a:defRPr>
            </a:pPr>
            <a:r>
              <a:t>3. Triangulated AI Synthesis, Abstention &amp; Security: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- 3-Tier AI Loop: </a:t>
            </a:r>
            <a:r>
              <a:rPr sz="950">
                <a:solidFill>
                  <a:srgbClr val="3C3C3C"/>
                </a:solidFill>
                <a:latin typeface="Arial"/>
              </a:rPr>
              <a:t>Model 1 diagnoses on-premise Jira/ERP logs; Model 2 monitors live macro feeds; Model 3 performs attribution % and 30/60/90-day trajectory ROI simulation.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- Explicit Abstention Protocol: </a:t>
            </a:r>
            <a:r>
              <a:rPr sz="950">
                <a:solidFill>
                  <a:srgbClr val="3C3C3C"/>
                </a:solidFill>
                <a:latin typeface="Arial"/>
              </a:rPr>
              <a:t>When competing cause margin is &lt;25%, halts high-capital action and prescribes 2 low-cost canary tests ($120-$350).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100FF"/>
                </a:solidFill>
                <a:latin typeface="Arial"/>
              </a:rPr>
              <a:t>- Role-Based Access Control (RBAC): </a:t>
            </a:r>
            <a:r>
              <a:rPr sz="950">
                <a:solidFill>
                  <a:srgbClr val="3C3C3C"/>
                </a:solidFill>
                <a:latin typeface="Arial"/>
              </a:rPr>
              <a:t>Masks sensitive unit COGS and gross margins for Operations Analysts while granting full access to Executives.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1800" b="1">
                <a:solidFill>
                  <a:srgbClr val="461482"/>
                </a:solidFill>
                <a:latin typeface="Arial"/>
              </a:defRPr>
            </a:pPr>
            <a:r>
              <a:t>README: Solution Architecture &amp; Engine Layers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B3A8E-8CD7-BACF-E784-DACC04D7DC42}"/>
              </a:ext>
            </a:extLst>
          </p:cNvPr>
          <p:cNvSpPr txBox="1"/>
          <p:nvPr/>
        </p:nvSpPr>
        <p:spPr>
          <a:xfrm>
            <a:off x="340961" y="1078992"/>
            <a:ext cx="112827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Layer 1: Governed Ingestion &amp; Schema Contracts (engine/contracts/, engine/data/)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Canonical Data Harmonization: </a:t>
            </a:r>
            <a:r>
              <a:rPr sz="900">
                <a:solidFill>
                  <a:srgbClr val="3C3C3C"/>
                </a:solidFill>
                <a:latin typeface="Arial"/>
              </a:rPr>
              <a:t>Ingests daily ERP sales, hourly web sessions, and weekly Jira tickets into validated Pydantic schemas.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Dynamic RBAC Masking Engine: </a:t>
            </a:r>
            <a:r>
              <a:rPr sz="900">
                <a:solidFill>
                  <a:srgbClr val="3C3C3C"/>
                </a:solidFill>
                <a:latin typeface="Arial"/>
              </a:rPr>
              <a:t>Performs real-time column/row redaction on financial margins based on active user persona token.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Layer 2: Deterministic Non-LLM Math Core (engine/math/)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Statistical Process Control (spc.py): </a:t>
            </a:r>
            <a:r>
              <a:rPr sz="900">
                <a:solidFill>
                  <a:srgbClr val="3C3C3C"/>
                </a:solidFill>
                <a:latin typeface="Arial"/>
              </a:rPr>
              <a:t>28-day DoW baseline, Student-t cold-start envelope (N&lt;14), and MAD robust outlier detection.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Axiomatic Causal Metric Tree (causal_tree.py): </a:t>
            </a:r>
            <a:r>
              <a:rPr sz="900">
                <a:solidFill>
                  <a:srgbClr val="3C3C3C"/>
                </a:solidFill>
                <a:latin typeface="Arial"/>
              </a:rPr>
              <a:t>Exact 3-factor Shapley attribution (Sessions, CVR, AOV) + LMDI-1 validation.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Layer 3: 3-Model AI Synthesis &amp; Simulation (engine/synthesis/)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Model 1 (Internal Diagnostic): </a:t>
            </a:r>
            <a:r>
              <a:rPr sz="900">
                <a:solidFill>
                  <a:srgbClr val="3C3C3C"/>
                </a:solidFill>
                <a:latin typeface="Arial"/>
              </a:rPr>
              <a:t>Private on-premise LLM diagnosing warehouse backlogs and Jira incident tickets.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Model 2 (Macro Sentinel): </a:t>
            </a:r>
            <a:r>
              <a:rPr sz="900">
                <a:solidFill>
                  <a:srgbClr val="3C3C3C"/>
                </a:solidFill>
                <a:latin typeface="Arial"/>
              </a:rPr>
              <a:t>Live API sentinel ingesting port strikes, freight indices, and competitor campaigns.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Model 3 (Prescriptive Trajectory Simulator): </a:t>
            </a:r>
            <a:r>
              <a:rPr sz="900">
                <a:solidFill>
                  <a:srgbClr val="3C3C3C"/>
                </a:solidFill>
                <a:latin typeface="Arial"/>
              </a:rPr>
              <a:t>Attribution weighting + 30/60/90-day ROI curves under executive budget caps ($45k).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Abstention Engine (abstention.py): </a:t>
            </a:r>
            <a:r>
              <a:rPr sz="900">
                <a:solidFill>
                  <a:srgbClr val="3C3C3C"/>
                </a:solidFill>
                <a:latin typeface="Arial"/>
              </a:rPr>
              <a:t>Calculates hypothesis confidence delta; triggers canary validation tests if margin &lt; 25%.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Layer 4: Interactive Decision Workspace &amp; Telemetry (ui/, engine/telemetry/)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Streamlit UI &amp; Telemetry Tracker: </a:t>
            </a:r>
            <a:r>
              <a:rPr sz="900">
                <a:solidFill>
                  <a:srgbClr val="3C3C3C"/>
                </a:solidFill>
                <a:latin typeface="Arial"/>
              </a:rPr>
              <a:t>6-tab workspace with Plotly charts, persona switchers, human feedback loop, and ms latency/token accounting.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CF69-3B38-8F7E-8355-6FB19B15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F8975F-047D-2696-E8BE-A3A8DCE0C7AC}"/>
              </a:ext>
            </a:extLst>
          </p:cNvPr>
          <p:cNvSpPr txBox="1"/>
          <p:nvPr/>
        </p:nvSpPr>
        <p:spPr>
          <a:xfrm>
            <a:off x="340961" y="1078992"/>
            <a:ext cx="112827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Runtime Core &amp; Execution Environment: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Python 3.11+ / PyPy: </a:t>
            </a:r>
            <a:r>
              <a:rPr sz="900">
                <a:solidFill>
                  <a:srgbClr val="3C3C3C"/>
                </a:solidFill>
                <a:latin typeface="Arial"/>
              </a:rPr>
              <a:t>Modern Python runtime utilizing typing, dataclasses, and async execution.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Pydantic v2 (&gt;=2.5.0): </a:t>
            </a:r>
            <a:r>
              <a:rPr sz="900">
                <a:solidFill>
                  <a:srgbClr val="3C3C3C"/>
                </a:solidFill>
                <a:latin typeface="Arial"/>
              </a:rPr>
              <a:t>Strict runtime schema enforcement, data contract validation, and JSON serialization.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Front-End Interactive Workspace &amp; Visualization: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Streamlit (&gt;=1.30.0): </a:t>
            </a:r>
            <a:r>
              <a:rPr sz="900">
                <a:solidFill>
                  <a:srgbClr val="3C3C3C"/>
                </a:solidFill>
                <a:latin typeface="Arial"/>
              </a:rPr>
              <a:t>Interactive multi-tab executive dashboard framework with session state management.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Plotly (&gt;=5.18.0): </a:t>
            </a:r>
            <a:r>
              <a:rPr sz="900">
                <a:solidFill>
                  <a:srgbClr val="3C3C3C"/>
                </a:solidFill>
                <a:latin typeface="Arial"/>
              </a:rPr>
              <a:t>Interactive WebGL/SVG visualization engine powering SPC Control Charts, Shapley Waterfall, and 30/60/90-Day Trajectory ROI curves.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Data Processing &amp; Mathematical Computation: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Pandas (&gt;=2.1.0): </a:t>
            </a:r>
            <a:r>
              <a:rPr sz="900">
                <a:solidFill>
                  <a:srgbClr val="3C3C3C"/>
                </a:solidFill>
                <a:latin typeface="Arial"/>
              </a:rPr>
              <a:t>High-performance time-series alignment, daily grain resampling, and DataFrame RBAC masking.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NumPy (&gt;=1.26.0): </a:t>
            </a:r>
            <a:r>
              <a:rPr sz="900">
                <a:solidFill>
                  <a:srgbClr val="3C3C3C"/>
                </a:solidFill>
                <a:latin typeface="Arial"/>
              </a:rPr>
              <a:t>Vectorized numerical routines, Student-t distribution limits, and Median Absolute Deviation (MAD).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Pluggable Multi-LLM Provider Architecture: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Hybrid Provider Interface: </a:t>
            </a:r>
            <a:r>
              <a:rPr sz="900">
                <a:solidFill>
                  <a:srgbClr val="3C3C3C"/>
                </a:solidFill>
                <a:latin typeface="Arial"/>
              </a:rPr>
              <a:t>Pluggable provider adapter supporting Google Gemini, OpenAI GPT-4o, and local Ollama.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Deterministic Offline Mock Fallback: </a:t>
            </a:r>
            <a:r>
              <a:rPr sz="900">
                <a:solidFill>
                  <a:srgbClr val="3C3C3C"/>
                </a:solidFill>
                <a:latin typeface="Arial"/>
              </a:rPr>
              <a:t>Built-in deterministic mock provider for instant execution with &lt;5ms latency and $0.00 token cost.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Verification &amp; Testing Infrastructure: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A100FF"/>
                </a:solidFill>
                <a:latin typeface="Arial"/>
              </a:rPr>
              <a:t>- Python unittest &amp; Monte Carlo: </a:t>
            </a:r>
            <a:r>
              <a:rPr sz="900">
                <a:solidFill>
                  <a:srgbClr val="3C3C3C"/>
                </a:solidFill>
                <a:latin typeface="Arial"/>
              </a:rPr>
              <a:t>Headless test harness executing 142 assertions and 10,000 randomized invariant stress trials.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CD560F5-3170-FA9D-6A82-64F26ABB6399}"/>
              </a:ext>
            </a:extLst>
          </p:cNvPr>
          <p:cNvSpPr txBox="1">
            <a:spLocks/>
          </p:cNvSpPr>
          <p:nvPr/>
        </p:nvSpPr>
        <p:spPr>
          <a:xfrm>
            <a:off x="340961" y="342685"/>
            <a:ext cx="11282796" cy="423125"/>
          </a:xfrm>
          <a:prstGeom prst="rect">
            <a:avLst/>
          </a:prstGeo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 b="1">
                <a:solidFill>
                  <a:srgbClr val="461482"/>
                </a:solidFill>
                <a:latin typeface="Arial"/>
              </a:defRPr>
            </a:pPr>
            <a:r>
              <a:t>README: Dependencies &amp; Technology Ecosystem</a:t>
            </a:r>
          </a:p>
        </p:txBody>
      </p:sp>
    </p:spTree>
    <p:extLst>
      <p:ext uri="{BB962C8B-B14F-4D97-AF65-F5344CB8AC3E}">
        <p14:creationId xmlns:p14="http://schemas.microsoft.com/office/powerpoint/2010/main" val="158673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pPr>
              <a:defRPr sz="1800" b="1">
                <a:solidFill>
                  <a:srgbClr val="461482"/>
                </a:solidFill>
                <a:latin typeface="Arial"/>
              </a:defRPr>
            </a:pPr>
            <a:r>
              <a:t>README: Execution Instructions &amp; Test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1. Environment Setup &amp; Dependency Installation: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Terminal Command: </a:t>
            </a:r>
            <a:r>
              <a:rPr sz="900">
                <a:solidFill>
                  <a:srgbClr val="3C3C3C"/>
                </a:solidFill>
                <a:latin typeface="Arial"/>
              </a:rPr>
              <a:t>pip install -r prototype/requirements.txt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Prerequisites: </a:t>
            </a:r>
            <a:r>
              <a:rPr sz="900">
                <a:solidFill>
                  <a:srgbClr val="3C3C3C"/>
                </a:solidFill>
                <a:latin typeface="Arial"/>
              </a:rPr>
              <a:t>Python 3.11+ installed; virtual environment recommended.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2. Launch Interactive Decision Workspace UI: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Terminal Command: </a:t>
            </a:r>
            <a:r>
              <a:rPr sz="900">
                <a:solidFill>
                  <a:srgbClr val="3C3C3C"/>
                </a:solidFill>
                <a:latin typeface="Arial"/>
              </a:rPr>
              <a:t>streamlit run prototype/app.py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Browser Access: </a:t>
            </a:r>
            <a:r>
              <a:rPr sz="900">
                <a:solidFill>
                  <a:srgbClr val="3C3C3C"/>
                </a:solidFill>
                <a:latin typeface="Arial"/>
              </a:rPr>
              <a:t>Open http://localhost:8501 (Interactive scenarios, persona toggles, trajectory sliders).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3. Run Automated Headless Verification Test Suite: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Acceptance Tests (93/93 Passed): </a:t>
            </a:r>
            <a:r>
              <a:rPr sz="900">
                <a:solidFill>
                  <a:srgbClr val="3C3C3C"/>
                </a:solidFill>
                <a:latin typeface="Arial"/>
              </a:rPr>
              <a:t>python prototype/test_scenarios.py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Modular Unit &amp; Property Tests (49/49 Passed): </a:t>
            </a:r>
            <a:r>
              <a:rPr sz="900">
                <a:solidFill>
                  <a:srgbClr val="3C3C3C"/>
                </a:solidFill>
                <a:latin typeface="Arial"/>
              </a:rPr>
              <a:t>python -m unittest discover -s prototype/tests -p "test_*.py"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Scenario x Persona Matrix Runner (8/8 Passed): </a:t>
            </a:r>
            <a:r>
              <a:rPr sz="900">
                <a:solidFill>
                  <a:srgbClr val="3C3C3C"/>
                </a:solidFill>
                <a:latin typeface="Arial"/>
              </a:rPr>
              <a:t>python prototype/verify_e2e.py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1">
                <a:solidFill>
                  <a:srgbClr val="461482"/>
                </a:solidFill>
                <a:latin typeface="Arial"/>
              </a:defRPr>
            </a:pPr>
            <a:r>
              <a:t>4. Key Verification Guarantees &amp; Acceptance Matrix: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Deterministic Math Invariant: </a:t>
            </a:r>
            <a:r>
              <a:rPr sz="900">
                <a:solidFill>
                  <a:srgbClr val="3C3C3C"/>
                </a:solidFill>
                <a:latin typeface="Arial"/>
              </a:rPr>
              <a:t>Shapley metric tree residual error 0.00000000 (|eps| &lt; 10^-12) across 10,000 Monte Carlo trials.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Zero Math Token Invariant: </a:t>
            </a:r>
            <a:r>
              <a:rPr sz="900">
                <a:solidFill>
                  <a:srgbClr val="3C3C3C"/>
                </a:solidFill>
                <a:latin typeface="Arial"/>
              </a:rPr>
              <a:t>Statistical Process Control and Causal Tree attribution consume exactly 0 LLM tokens ($0.00 cost).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0066CC"/>
                </a:solidFill>
                <a:latin typeface="Arial"/>
              </a:rPr>
              <a:t>- All 4 Mandatory Scenarios: </a:t>
            </a:r>
            <a:r>
              <a:rPr sz="900">
                <a:solidFill>
                  <a:srgbClr val="3C3C3C"/>
                </a:solidFill>
                <a:latin typeface="Arial"/>
              </a:rPr>
              <a:t>1. Multi-factor (70/30) | 2. Ambiguity &amp; Canary tests | 3. Cold start prior | 4. RBAC masking.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747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Wingdings</vt:lpstr>
      <vt:lpstr>Accenture 2025</vt:lpstr>
      <vt:lpstr>Titles</vt:lpstr>
      <vt:lpstr>1_Office Theme</vt:lpstr>
      <vt:lpstr>1_Accenture 2025</vt:lpstr>
      <vt:lpstr>PowerPoint Presentation</vt:lpstr>
      <vt:lpstr>Team details</vt:lpstr>
      <vt:lpstr>Describe the problem statement (200 words)</vt:lpstr>
      <vt:lpstr>Proposed solution (200 words)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the last</cp:lastModifiedBy>
  <cp:revision>7</cp:revision>
  <dcterms:created xsi:type="dcterms:W3CDTF">2026-07-24T04:09:52Z</dcterms:created>
  <dcterms:modified xsi:type="dcterms:W3CDTF">2026-08-16T11:40:30Z</dcterms:modified>
</cp:coreProperties>
</file>